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6858000" cx="12192000"/>
  <p:notesSz cx="6858000" cy="9144000"/>
  <p:embeddedFontLst>
    <p:embeddedFont>
      <p:font typeface="Plus Jakarta Sans ExtraBold"/>
      <p:bold r:id="rId21"/>
      <p:boldItalic r:id="rId22"/>
    </p:embeddedFont>
    <p:embeddedFont>
      <p:font typeface="Plus Jakarta Sans"/>
      <p:bold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heodore Great S 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BF654F-CC0D-43A7-8E41-1C757D10D7E0}">
  <a:tblStyle styleId="{FBBF654F-CC0D-43A7-8E41-1C757D10D7E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PlusJakartaSansExtraBold-boldItalic.fntdata"/><Relationship Id="rId21" Type="http://schemas.openxmlformats.org/officeDocument/2006/relationships/font" Target="fonts/PlusJakartaSansExtraBold-bold.fntdata"/><Relationship Id="rId24" Type="http://schemas.openxmlformats.org/officeDocument/2006/relationships/font" Target="fonts/PlusJakartaSans-boldItalic.fntdata"/><Relationship Id="rId23" Type="http://schemas.openxmlformats.org/officeDocument/2006/relationships/font" Target="fonts/PlusJakarta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07T08:11:58.744">
    <p:pos x="4098" y="2066"/>
    <p:text>jelaskan UKS/BK Adaptif ini seperti apa</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document/d/1cYLUbjV8kKmaeCthK50wNj9y3xyd7nlD9fAQ9nPiK9k/edit?tab=t.0" TargetMode="External"/><Relationship Id="rId3" Type="http://schemas.openxmlformats.org/officeDocument/2006/relationships/hyperlink" Target="https://ambon.antaranews.com/berita/225971/pemprov-maluku-tingkatkan-penerimaan-jumlah-tenaga-dokter-pada-cpns-2024" TargetMode="External"/><Relationship Id="rId4" Type="http://schemas.openxmlformats.org/officeDocument/2006/relationships/hyperlink" Target="https://ambon.antaranews.com/berita/196827/rskd-maluku-siap-fasilitasi-caleg-gangguan-mental-jika-tidak-terpilih" TargetMode="External"/><Relationship Id="rId11" Type="http://schemas.openxmlformats.org/officeDocument/2006/relationships/hyperlink" Target="https://doi.org/10.31004/jerkin.v3i4.731" TargetMode="External"/><Relationship Id="rId10" Type="http://schemas.openxmlformats.org/officeDocument/2006/relationships/hyperlink" Target="https://doi.org/10.33084/bijaksana.v3i1.10343" TargetMode="External"/><Relationship Id="rId12" Type="http://schemas.openxmlformats.org/officeDocument/2006/relationships/hyperlink" Target="https://repository.uksw.edu/handle/123456789/17327" TargetMode="External"/><Relationship Id="rId9" Type="http://schemas.openxmlformats.org/officeDocument/2006/relationships/hyperlink" Target="https://www.medcom.id/nasional/daerah/dN6wpOab-rskd-maluku-kekurangan-dokter-spesialis-jiwa" TargetMode="External"/><Relationship Id="rId5" Type="http://schemas.openxmlformats.org/officeDocument/2006/relationships/hyperlink" Target="https://rri.co.id/yogyakarta/regional/2612164/jangan-takut-mencari-bantuan-saat-alami-gangguan-mental" TargetMode="External"/><Relationship Id="rId6" Type="http://schemas.openxmlformats.org/officeDocument/2006/relationships/hyperlink" Target="https://doi.org/10.55338/jpkmn.v6i1.5447" TargetMode="External"/><Relationship Id="rId7" Type="http://schemas.openxmlformats.org/officeDocument/2006/relationships/hyperlink" Target="https://qcmhr.org/outputs/reports/12-i-namhs-report-bahasa-indonesia" TargetMode="External"/><Relationship Id="rId8" Type="http://schemas.openxmlformats.org/officeDocument/2006/relationships/hyperlink" Target="https://www.suarasurabaya.net/?p=640769"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journals.unihaz.ac.id/index.php/psikodidaktika/id/article/view/4344"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i.org/10.1155/hsc/8897061" TargetMode="External"/><Relationship Id="rId3" Type="http://schemas.openxmlformats.org/officeDocument/2006/relationships/hyperlink" Target="https://doi.org/10.1007/s44217-025-00822-x" TargetMode="External"/><Relationship Id="rId4" Type="http://schemas.openxmlformats.org/officeDocument/2006/relationships/hyperlink" Target="http://recsam.edu.my/sub_SEA-BES/images/docs/PADL.pdf"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43cef59f3d14e668_1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h43cef59f3d14e668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29b15adb4bb48f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29b15adb4bb48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US">
                <a:solidFill>
                  <a:schemeClr val="dk1"/>
                </a:solidFill>
              </a:rPr>
              <a:t>Referensi: </a:t>
            </a:r>
            <a:r>
              <a:rPr b="1" lang="en-US" u="sng">
                <a:solidFill>
                  <a:schemeClr val="hlink"/>
                </a:solidFill>
                <a:hlinkClick r:id="rId2"/>
              </a:rPr>
              <a:t>https://docs.google.com/document/d/1cYLUbjV8kKmaeCthK50wNj9y3xyd7nlD9fAQ9nPiK9k/edit?tab=t.0</a:t>
            </a:r>
            <a:r>
              <a:rPr b="1" lang="en-US">
                <a:solidFill>
                  <a:schemeClr val="dk1"/>
                </a:solidFill>
              </a:rPr>
              <a:t>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ANTARA Ambon. (20 Agustus, 2024). Pemprov Maluku tingkatkan penerimaan jumlah tenaga dokter pada CPNS 2024. </a:t>
            </a:r>
            <a:r>
              <a:rPr i="1" lang="en-US">
                <a:solidFill>
                  <a:schemeClr val="dk1"/>
                </a:solidFill>
              </a:rPr>
              <a:t>ANTARA News</a:t>
            </a:r>
            <a:r>
              <a:rPr lang="en-US">
                <a:solidFill>
                  <a:schemeClr val="dk1"/>
                </a:solidFill>
              </a:rPr>
              <a:t>. </a:t>
            </a:r>
            <a:r>
              <a:rPr lang="en-US" u="sng">
                <a:solidFill>
                  <a:srgbClr val="1155CC"/>
                </a:solidFill>
                <a:hlinkClick r:id="rId3">
                  <a:extLst>
                    <a:ext uri="{A12FA001-AC4F-418D-AE19-62706E023703}">
                      <ahyp:hlinkClr val="tx"/>
                    </a:ext>
                  </a:extLst>
                </a:hlinkClick>
              </a:rPr>
              <a:t>https://ambon.antaranews.com/berita/225971/pemprov-maluku-tingkatkan-penerimaan-jumlah-tenaga-dokter-pada-cpns-2024</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ANTARA Ambon. (5 Januari, 2024). RSKD Maluku siap fasilitasi caleg gangguan mental jika tidak terpilih. </a:t>
            </a:r>
            <a:r>
              <a:rPr i="1" lang="en-US">
                <a:solidFill>
                  <a:schemeClr val="dk1"/>
                </a:solidFill>
              </a:rPr>
              <a:t>ANTARA News</a:t>
            </a:r>
            <a:r>
              <a:rPr lang="en-US">
                <a:solidFill>
                  <a:schemeClr val="dk1"/>
                </a:solidFill>
              </a:rPr>
              <a:t>. </a:t>
            </a:r>
            <a:r>
              <a:rPr lang="en-US" u="sng">
                <a:solidFill>
                  <a:srgbClr val="1155CC"/>
                </a:solidFill>
                <a:hlinkClick r:id="rId4">
                  <a:extLst>
                    <a:ext uri="{A12FA001-AC4F-418D-AE19-62706E023703}">
                      <ahyp:hlinkClr val="tx"/>
                    </a:ext>
                  </a:extLst>
                </a:hlinkClick>
              </a:rPr>
              <a:t>https://ambon.antaranews.com/berita/196827/rskd-maluku-siap-fasilitasi-caleg-gangguan-mental-jika-tidak-terpilih</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Hidayat, R. (30 Juli, 2026). Jangan takut mencari bantuan saat alami gangguan mental. </a:t>
            </a:r>
            <a:r>
              <a:rPr i="1" lang="en-US">
                <a:solidFill>
                  <a:schemeClr val="dk1"/>
                </a:solidFill>
              </a:rPr>
              <a:t>RRI Yogyakarta.</a:t>
            </a:r>
            <a:r>
              <a:rPr lang="en-US">
                <a:solidFill>
                  <a:schemeClr val="dk1"/>
                </a:solidFill>
              </a:rPr>
              <a:t> </a:t>
            </a:r>
            <a:r>
              <a:rPr lang="en-US" u="sng">
                <a:solidFill>
                  <a:srgbClr val="1155CC"/>
                </a:solidFill>
                <a:hlinkClick r:id="rId5">
                  <a:extLst>
                    <a:ext uri="{A12FA001-AC4F-418D-AE19-62706E023703}">
                      <ahyp:hlinkClr val="tx"/>
                    </a:ext>
                  </a:extLst>
                </a:hlinkClick>
              </a:rPr>
              <a:t>https://rri.co.id/yogyakarta/regional/2612164/jangan-takut-mencari-bantuan-saat-alami-gangguan-mental</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Ibrahim, I., Pelu, M., Cahyawati, S., Marthin Salakory, H. S., &amp; Matulessy, F. S. (2025). Edukasi kesehatan mental pada remaja tingkat sekolah di wilayah kerja Puskesmas Belakang Soya. </a:t>
            </a:r>
            <a:r>
              <a:rPr i="1" lang="en-US">
                <a:solidFill>
                  <a:schemeClr val="dk1"/>
                </a:solidFill>
              </a:rPr>
              <a:t>Jurnal Pengabdian kepada Masyarakat Nusantara, 6</a:t>
            </a:r>
            <a:r>
              <a:rPr lang="en-US">
                <a:solidFill>
                  <a:schemeClr val="dk1"/>
                </a:solidFill>
              </a:rPr>
              <a:t>(1), 1302–1310. </a:t>
            </a:r>
            <a:r>
              <a:rPr lang="en-US" u="sng">
                <a:solidFill>
                  <a:srgbClr val="1155CC"/>
                </a:solidFill>
                <a:hlinkClick r:id="rId6">
                  <a:extLst>
                    <a:ext uri="{A12FA001-AC4F-418D-AE19-62706E023703}">
                      <ahyp:hlinkClr val="tx"/>
                    </a:ext>
                  </a:extLst>
                </a:hlinkClick>
              </a:rPr>
              <a:t>https://doi.org/10.55338/jpkmn.v6i1.5447</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Indonesia National Adolescent Mental Health Survey. (2022). </a:t>
            </a:r>
            <a:r>
              <a:rPr i="1" lang="en-US">
                <a:solidFill>
                  <a:schemeClr val="dk1"/>
                </a:solidFill>
              </a:rPr>
              <a:t>Laporan Indonesia National Adolescent Mental Health Survey (I-NAMHS). </a:t>
            </a:r>
            <a:r>
              <a:rPr lang="en-US">
                <a:solidFill>
                  <a:schemeClr val="dk1"/>
                </a:solidFill>
              </a:rPr>
              <a:t>Pusat Kebijakan dan Penelitian Kesehatan Mental Remaja Queensland (QCMHR). </a:t>
            </a:r>
            <a:r>
              <a:rPr lang="en-US" u="sng">
                <a:solidFill>
                  <a:srgbClr val="1155CC"/>
                </a:solidFill>
                <a:hlinkClick r:id="rId7">
                  <a:extLst>
                    <a:ext uri="{A12FA001-AC4F-418D-AE19-62706E023703}">
                      <ahyp:hlinkClr val="tx"/>
                    </a:ext>
                  </a:extLst>
                </a:hlinkClick>
              </a:rPr>
              <a:t>https://qcmhr.org/outputs/reports/12-i-namhs-report-bahasa-indonesia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Kementerian Pemberdayaan Perempuan dan Perlindungan Anak Republik Indonesia. (2026, July 21). KemenPPPA tingkatkan kapasitas tenaga layanan cegah masalah mental. </a:t>
            </a:r>
            <a:r>
              <a:rPr i="1" lang="en-US">
                <a:solidFill>
                  <a:schemeClr val="dk1"/>
                </a:solidFill>
              </a:rPr>
              <a:t>Suara Surabaya</a:t>
            </a:r>
            <a:r>
              <a:rPr lang="en-US">
                <a:solidFill>
                  <a:schemeClr val="dk1"/>
                </a:solidFill>
              </a:rPr>
              <a:t>. </a:t>
            </a:r>
            <a:r>
              <a:rPr lang="en-US" u="sng">
                <a:solidFill>
                  <a:srgbClr val="1155CC"/>
                </a:solidFill>
                <a:hlinkClick r:id="rId8">
                  <a:extLst>
                    <a:ext uri="{A12FA001-AC4F-418D-AE19-62706E023703}">
                      <ahyp:hlinkClr val="tx"/>
                    </a:ext>
                  </a:extLst>
                </a:hlinkClick>
              </a:rPr>
              <a:t>https://www.suarasurabaya.net/?p=640769</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Medcom.id. (2 Maret, 2023). RSKD Maluku kekurangan dokter spesialis jiwa. </a:t>
            </a:r>
            <a:r>
              <a:rPr i="1" lang="en-US">
                <a:solidFill>
                  <a:schemeClr val="dk1"/>
                </a:solidFill>
              </a:rPr>
              <a:t>Medcom.id</a:t>
            </a:r>
            <a:r>
              <a:rPr lang="en-US">
                <a:solidFill>
                  <a:schemeClr val="dk1"/>
                </a:solidFill>
              </a:rPr>
              <a:t>. </a:t>
            </a:r>
            <a:r>
              <a:rPr lang="en-US" u="sng">
                <a:solidFill>
                  <a:srgbClr val="1155CC"/>
                </a:solidFill>
                <a:hlinkClick r:id="rId9">
                  <a:extLst>
                    <a:ext uri="{A12FA001-AC4F-418D-AE19-62706E023703}">
                      <ahyp:hlinkClr val="tx"/>
                    </a:ext>
                  </a:extLst>
                </a:hlinkClick>
              </a:rPr>
              <a:t>https://www.medcom.id/nasional/daerah/dN6wpOab-rskd-maluku-kekurangan-dokter-spesialis-jiwa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Munandar, H., Safithry, E. A., Hafid, I., Usop, D. S., Marhani, I., Juhairiah, S., Setyawan, D., &amp; Karyanti. (2025). Optimalisasi kesehatan mental siswa: Inisiatif sosialisasi dan pendampingan di SMA Muhammadiyah Palangka Raya. </a:t>
            </a:r>
            <a:r>
              <a:rPr i="1" lang="en-US">
                <a:solidFill>
                  <a:schemeClr val="dk1"/>
                </a:solidFill>
              </a:rPr>
              <a:t>Bijaksana: Jurnal Pengabdian Masyarakat,</a:t>
            </a:r>
            <a:r>
              <a:rPr lang="en-US">
                <a:solidFill>
                  <a:schemeClr val="dk1"/>
                </a:solidFill>
              </a:rPr>
              <a:t> </a:t>
            </a:r>
            <a:r>
              <a:rPr i="1" lang="en-US">
                <a:solidFill>
                  <a:schemeClr val="dk1"/>
                </a:solidFill>
              </a:rPr>
              <a:t>3</a:t>
            </a:r>
            <a:r>
              <a:rPr lang="en-US">
                <a:solidFill>
                  <a:schemeClr val="dk1"/>
                </a:solidFill>
              </a:rPr>
              <a:t>(1), 28–31. </a:t>
            </a:r>
            <a:r>
              <a:rPr lang="en-US" u="sng">
                <a:solidFill>
                  <a:srgbClr val="1155CC"/>
                </a:solidFill>
                <a:hlinkClick r:id="rId10">
                  <a:extLst>
                    <a:ext uri="{A12FA001-AC4F-418D-AE19-62706E023703}">
                      <ahyp:hlinkClr val="tx"/>
                    </a:ext>
                  </a:extLst>
                </a:hlinkClick>
              </a:rPr>
              <a:t>https://doi.org/10.33084/bijaksana.v3i1.10343</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a:solidFill>
                  <a:schemeClr val="dk1"/>
                </a:solidFill>
              </a:rPr>
              <a:t>Tasidjawa, A., Sialana, F., &amp; Lambiombir, H. (2025). Pola penggunaan media Facebook dan TikTok dalam konteks kesehatan mental remaja pada siswa kelas IX SMP Negeri 9 Ambon: Penelitian. </a:t>
            </a:r>
            <a:r>
              <a:rPr i="1" lang="en-US">
                <a:solidFill>
                  <a:schemeClr val="dk1"/>
                </a:solidFill>
              </a:rPr>
              <a:t>Jurnal Pengabdian Masyarakat dan Riset Pendidikan</a:t>
            </a:r>
            <a:r>
              <a:rPr lang="en-US">
                <a:solidFill>
                  <a:schemeClr val="dk1"/>
                </a:solidFill>
              </a:rPr>
              <a:t>, </a:t>
            </a:r>
            <a:r>
              <a:rPr i="1" lang="en-US">
                <a:solidFill>
                  <a:schemeClr val="dk1"/>
                </a:solidFill>
              </a:rPr>
              <a:t>3</a:t>
            </a:r>
            <a:r>
              <a:rPr lang="en-US">
                <a:solidFill>
                  <a:schemeClr val="dk1"/>
                </a:solidFill>
              </a:rPr>
              <a:t>(4), 2238–2247. </a:t>
            </a:r>
            <a:r>
              <a:rPr lang="en-US" u="sng">
                <a:solidFill>
                  <a:srgbClr val="1155CC"/>
                </a:solidFill>
                <a:hlinkClick r:id="rId11">
                  <a:extLst>
                    <a:ext uri="{A12FA001-AC4F-418D-AE19-62706E023703}">
                      <ahyp:hlinkClr val="tx"/>
                    </a:ext>
                  </a:extLst>
                </a:hlinkClick>
              </a:rPr>
              <a:t>https://doi.org/10.31004/jerkin.v3i4.731</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US">
                <a:solidFill>
                  <a:schemeClr val="dk1"/>
                </a:solidFill>
              </a:rPr>
              <a:t>Universitas Kristen Satya Wacana. (2018). </a:t>
            </a:r>
            <a:r>
              <a:rPr i="1" lang="en-US">
                <a:solidFill>
                  <a:schemeClr val="dk1"/>
                </a:solidFill>
              </a:rPr>
              <a:t>Status kesehatan mental dan promosi kesehatan mental siswa SD Negeri di Kota Ambon.</a:t>
            </a:r>
            <a:r>
              <a:rPr lang="en-US">
                <a:solidFill>
                  <a:schemeClr val="dk1"/>
                </a:solidFill>
              </a:rPr>
              <a:t> Repositori UKSW. </a:t>
            </a:r>
            <a:r>
              <a:rPr lang="en-US" u="sng">
                <a:solidFill>
                  <a:srgbClr val="1155CC"/>
                </a:solidFill>
                <a:hlinkClick r:id="rId12">
                  <a:extLst>
                    <a:ext uri="{A12FA001-AC4F-418D-AE19-62706E023703}">
                      <ahyp:hlinkClr val="tx"/>
                    </a:ext>
                  </a:extLst>
                </a:hlinkClick>
              </a:rPr>
              <a:t>https://repository.uksw.edu/handle/123456789/17327</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u="sng">
                <a:solidFill>
                  <a:schemeClr val="hlink"/>
                </a:solidFill>
                <a:hlinkClick r:id="rId2"/>
              </a:rPr>
              <a:t>https://journals.unihaz.ac.id/index.php/psikodidaktika/id/article/view/4344</a:t>
            </a:r>
            <a:r>
              <a:rPr lang="en-US"/>
              <a:t> </a:t>
            </a:r>
            <a:endParaRPr/>
          </a:p>
        </p:txBody>
      </p:sp>
      <p:sp>
        <p:nvSpPr>
          <p:cNvPr id="209" name="Google Shape;2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h430fb2d5176292bb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h430fb2d5176292bb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000"/>
              <a:t>2. Evidence Base</a:t>
            </a:r>
            <a:endParaRPr b="1" sz="1000"/>
          </a:p>
          <a:p>
            <a:pPr indent="-298450" lvl="0" marL="457200" rtl="0" algn="l">
              <a:spcBef>
                <a:spcPts val="0"/>
              </a:spcBef>
              <a:spcAft>
                <a:spcPts val="0"/>
              </a:spcAft>
              <a:buSzPts val="1100"/>
              <a:buChar char="-"/>
            </a:pPr>
            <a:r>
              <a:rPr lang="en-US" sz="1000">
                <a:solidFill>
                  <a:srgbClr val="222222"/>
                </a:solidFill>
              </a:rPr>
              <a:t>Konteks Lokal (Riset Universitas Brawijaya): Pelatihan Mental Health First Aid secara signifikan meningkatkan kemampuan guru mendeteksi dan menangani krisis siswa secara dini, seperti pada kasus bullying. </a:t>
            </a:r>
            <a:r>
              <a:rPr lang="en-US" sz="600">
                <a:solidFill>
                  <a:srgbClr val="222222"/>
                </a:solidFill>
              </a:rPr>
              <a:t>(Dewi, Sagung &amp; Lestari, Retno &amp; Hariyanti, Tita &amp; Hasan, Haliza. (2025). The Effect of Mental Health First Aid (MHFA) Training on Teachers' Ability to Recognize and Address Bullying Victimization in Elementary Schools. Journal of Nursing Science Update (JNSU). 13. 10-19. 10.21776/ub.jik.2025.013.01.02.)</a:t>
            </a:r>
            <a:endParaRPr sz="1000"/>
          </a:p>
          <a:p>
            <a:pPr indent="-292100" lvl="0" marL="457200" rtl="0" algn="l">
              <a:spcBef>
                <a:spcPts val="0"/>
              </a:spcBef>
              <a:spcAft>
                <a:spcPts val="0"/>
              </a:spcAft>
              <a:buSzPts val="1000"/>
              <a:buChar char="-"/>
            </a:pPr>
            <a:r>
              <a:rPr lang="en-US" sz="1000"/>
              <a:t>Validasi target SMA (Australia): Guru SMA yang mendapatkan pelatihan Youth Mental Health First Aid membuktikan pelatihan sukses meningkatkan pengetahuan, menurunkan stigma, dan meningkatkan kepercayaan diri untuk memberikan bantuan kepada siswa dan rekan kerja. Efek kepada siswa: lebih banyak menerima edukasi/informasi seputar mental health. </a:t>
            </a:r>
            <a:endParaRPr sz="1000"/>
          </a:p>
          <a:p>
            <a:pPr indent="0" lvl="0" marL="0" rtl="0" algn="l">
              <a:spcBef>
                <a:spcPts val="0"/>
              </a:spcBef>
              <a:spcAft>
                <a:spcPts val="0"/>
              </a:spcAft>
              <a:buNone/>
            </a:pPr>
            <a:r>
              <a:rPr i="1" lang="en-US" sz="1000" u="sng"/>
              <a:t>Hot-tak</a:t>
            </a:r>
            <a:r>
              <a:rPr lang="en-US" sz="1000"/>
              <a:t>e: di bagian results mereka stated kalau pelatihan saja tidak cukup → kita tidak hanya menyediakan pelatihan, tapi juga menyediakan modul dan kit fisik yang bisa membantu lebih lanjut setelah pelatihan selesai. </a:t>
            </a:r>
            <a:r>
              <a:rPr lang="en-US" sz="600">
                <a:solidFill>
                  <a:srgbClr val="1B1B1B"/>
                </a:solidFill>
                <a:highlight>
                  <a:srgbClr val="FFFFFF"/>
                </a:highlight>
              </a:rPr>
              <a:t>(Jorm AF, Kitchener BA, Sawyer MG, Scales H, Cvetkovski S. Mental health first aid training for high school teachers: a cluster randomized trial. BMC Psychiatry. 2010 Jun 24;10:51. doi: 10.1186/1471-244X-10-51. PMID: 20576158; PMCID: PMC2908569.)</a:t>
            </a:r>
            <a:endParaRPr sz="600">
              <a:solidFill>
                <a:srgbClr val="1B1B1B"/>
              </a:solidFill>
              <a:highlight>
                <a:srgbClr val="FFFFFF"/>
              </a:highlight>
            </a:endParaRPr>
          </a:p>
          <a:p>
            <a:pPr indent="0" lvl="0" marL="0" rtl="0" algn="l">
              <a:spcBef>
                <a:spcPts val="0"/>
              </a:spcBef>
              <a:spcAft>
                <a:spcPts val="0"/>
              </a:spcAft>
              <a:buNone/>
            </a:pPr>
            <a:r>
              <a:t/>
            </a:r>
            <a:endParaRPr sz="600">
              <a:solidFill>
                <a:srgbClr val="222222"/>
              </a:solidFill>
            </a:endParaRPr>
          </a:p>
          <a:p>
            <a:pPr indent="-273050" lvl="0" marL="457200" rtl="0" algn="l">
              <a:spcBef>
                <a:spcPts val="0"/>
              </a:spcBef>
              <a:spcAft>
                <a:spcPts val="0"/>
              </a:spcAft>
              <a:buClr>
                <a:srgbClr val="1B1B1B"/>
              </a:buClr>
              <a:buSzPts val="700"/>
              <a:buChar char="-"/>
            </a:pPr>
            <a:r>
              <a:rPr lang="en-US" sz="1000">
                <a:solidFill>
                  <a:srgbClr val="222222"/>
                </a:solidFill>
              </a:rPr>
              <a:t>Efektivitas Terukur Lintas Negara (Yordania): kelompok guru yang dilatih memiliki skor kompetensi, sikap, dan self-efficacy yang jauh lebih tinggi secara statistik dalam memberikan dukungan krisis.</a:t>
            </a:r>
            <a:r>
              <a:rPr lang="en-US" sz="600">
                <a:solidFill>
                  <a:srgbClr val="222222"/>
                </a:solidFill>
              </a:rPr>
              <a:t>(</a:t>
            </a:r>
            <a:r>
              <a:rPr lang="en-US" sz="600">
                <a:solidFill>
                  <a:srgbClr val="1C1D1E"/>
                </a:solidFill>
                <a:highlight>
                  <a:srgbClr val="FFFFFF"/>
                </a:highlight>
              </a:rPr>
              <a:t>Kamel, Andaleeb M. Abu, Al-Maghaireh, Dua’a, Shawish, Najah Sami, Khanjar, Bushra Khaurullah, Alnazly, Eman K., Exploring Effect of Psychological First Aid Education on Elementary School Teachers: A Quasiexperimental Study, </a:t>
            </a:r>
            <a:r>
              <a:rPr i="1" lang="en-US" sz="600">
                <a:solidFill>
                  <a:srgbClr val="1C1D1E"/>
                </a:solidFill>
                <a:highlight>
                  <a:srgbClr val="FFFFFF"/>
                </a:highlight>
              </a:rPr>
              <a:t>Health &amp; Social Care in the Community</a:t>
            </a:r>
            <a:r>
              <a:rPr lang="en-US" sz="600">
                <a:solidFill>
                  <a:srgbClr val="1C1D1E"/>
                </a:solidFill>
                <a:highlight>
                  <a:srgbClr val="FFFFFF"/>
                </a:highlight>
              </a:rPr>
              <a:t>, 2025, 8897061, 10 pages, 2025. </a:t>
            </a:r>
            <a:r>
              <a:rPr lang="en-US" sz="600">
                <a:solidFill>
                  <a:srgbClr val="123D80"/>
                </a:solidFill>
                <a:highlight>
                  <a:srgbClr val="FFFFFF"/>
                </a:highlight>
                <a:uFill>
                  <a:noFill/>
                </a:uFill>
                <a:hlinkClick r:id="rId2">
                  <a:extLst>
                    <a:ext uri="{A12FA001-AC4F-418D-AE19-62706E023703}">
                      <ahyp:hlinkClr val="tx"/>
                    </a:ext>
                  </a:extLst>
                </a:hlinkClick>
              </a:rPr>
              <a:t>https://doi.org/10.1155/hsc/8897061</a:t>
            </a:r>
            <a:r>
              <a:rPr lang="en-US" sz="600">
                <a:solidFill>
                  <a:srgbClr val="1B1B1B"/>
                </a:solidFill>
              </a:rPr>
              <a:t>)</a:t>
            </a:r>
            <a:endParaRPr sz="600">
              <a:solidFill>
                <a:srgbClr val="1B1B1B"/>
              </a:solidFill>
            </a:endParaRPr>
          </a:p>
          <a:p>
            <a:pPr indent="-298450" lvl="0" marL="457200" rtl="0" algn="l">
              <a:spcBef>
                <a:spcPts val="0"/>
              </a:spcBef>
              <a:spcAft>
                <a:spcPts val="0"/>
              </a:spcAft>
              <a:buSzPts val="1100"/>
              <a:buChar char="-"/>
            </a:pPr>
            <a:r>
              <a:rPr lang="en-US" sz="1000"/>
              <a:t>Dukungan Skala Global: Tinjauan literatur dari berbagai negara (2010-2023) → psychological first aid training kepada guru-guru meningkatkan pengetahuan tentang mental health, meningkatkan sikap, kepercayaan diri, dan mengurangi stigma terhadap tindakan mencari bantuan psikologis. Menunjukkan adanya urgensi untuk menyertakan psychological first aid pada pelatihan guru untuk menciptakan lingkungan sekolah yang ramah psikologis. </a:t>
            </a:r>
            <a:r>
              <a:rPr lang="en-US" sz="600"/>
              <a:t>(</a:t>
            </a:r>
            <a:r>
              <a:rPr lang="en-US" sz="600">
                <a:solidFill>
                  <a:srgbClr val="222222"/>
                </a:solidFill>
                <a:highlight>
                  <a:srgbClr val="FFFFFF"/>
                </a:highlight>
              </a:rPr>
              <a:t>Rantho, K.M., Makgahlela, M. &amp; Sodi, T. Effects of psychological first aid training on teachers: a scoping review with a global perspective. </a:t>
            </a:r>
            <a:r>
              <a:rPr i="1" lang="en-US" sz="600">
                <a:solidFill>
                  <a:srgbClr val="222222"/>
                </a:solidFill>
                <a:highlight>
                  <a:srgbClr val="FFFFFF"/>
                </a:highlight>
              </a:rPr>
              <a:t>Discov Educ</a:t>
            </a:r>
            <a:r>
              <a:rPr lang="en-US" sz="600">
                <a:solidFill>
                  <a:srgbClr val="222222"/>
                </a:solidFill>
                <a:highlight>
                  <a:srgbClr val="FFFFFF"/>
                </a:highlight>
              </a:rPr>
              <a:t> </a:t>
            </a:r>
            <a:r>
              <a:rPr b="1" lang="en-US" sz="600">
                <a:solidFill>
                  <a:srgbClr val="222222"/>
                </a:solidFill>
                <a:highlight>
                  <a:srgbClr val="FFFFFF"/>
                </a:highlight>
              </a:rPr>
              <a:t>4</a:t>
            </a:r>
            <a:r>
              <a:rPr lang="en-US" sz="600">
                <a:solidFill>
                  <a:srgbClr val="222222"/>
                </a:solidFill>
                <a:highlight>
                  <a:srgbClr val="FFFFFF"/>
                </a:highlight>
              </a:rPr>
              <a:t>, 362 (2025). </a:t>
            </a:r>
            <a:r>
              <a:rPr lang="en-US" sz="600" u="sng">
                <a:solidFill>
                  <a:schemeClr val="hlink"/>
                </a:solidFill>
                <a:highlight>
                  <a:srgbClr val="FFFFFF"/>
                </a:highlight>
                <a:hlinkClick r:id="rId3"/>
              </a:rPr>
              <a:t>https://doi.org/10.1007/s44217-025-00822-x</a:t>
            </a:r>
            <a:r>
              <a:rPr lang="en-US" sz="600">
                <a:solidFill>
                  <a:srgbClr val="222222"/>
                </a:solidFill>
                <a:highlight>
                  <a:srgbClr val="FFFFFF"/>
                </a:highlight>
              </a:rPr>
              <a:t>)</a:t>
            </a:r>
            <a:endParaRPr sz="1000">
              <a:solidFill>
                <a:srgbClr val="222222"/>
              </a:solidFill>
            </a:endParaRPr>
          </a:p>
          <a:p>
            <a:pPr indent="0" lvl="0" marL="0" rtl="0" algn="l">
              <a:spcBef>
                <a:spcPts val="0"/>
              </a:spcBef>
              <a:spcAft>
                <a:spcPts val="0"/>
              </a:spcAft>
              <a:buNone/>
            </a:pPr>
            <a:r>
              <a:t/>
            </a:r>
            <a:endParaRPr sz="700"/>
          </a:p>
          <a:p>
            <a:pPr indent="0" lvl="0" marL="0" rtl="0" algn="l">
              <a:spcBef>
                <a:spcPts val="0"/>
              </a:spcBef>
              <a:spcAft>
                <a:spcPts val="0"/>
              </a:spcAft>
              <a:buNone/>
            </a:pPr>
            <a:r>
              <a:rPr b="1" lang="en-US" sz="1000"/>
              <a:t>3. Known best practices</a:t>
            </a:r>
            <a:endParaRPr b="1" sz="1000"/>
          </a:p>
          <a:p>
            <a:pPr indent="-292100" lvl="0" marL="457200" rtl="0" algn="l">
              <a:spcBef>
                <a:spcPts val="0"/>
              </a:spcBef>
              <a:spcAft>
                <a:spcPts val="0"/>
              </a:spcAft>
              <a:buSzPts val="1000"/>
              <a:buChar char="-"/>
            </a:pPr>
            <a:r>
              <a:rPr lang="en-US" sz="1000"/>
              <a:t>Modul: misal ambil dari PFA punya WHO tapi harus diadaptasi dan validasi dengan lokal agar relevan</a:t>
            </a:r>
            <a:endParaRPr sz="1000"/>
          </a:p>
          <a:p>
            <a:pPr indent="-292100" lvl="0" marL="457200" rtl="0" algn="l">
              <a:spcBef>
                <a:spcPts val="0"/>
              </a:spcBef>
              <a:spcAft>
                <a:spcPts val="0"/>
              </a:spcAft>
              <a:buSzPts val="1000"/>
              <a:buChar char="-"/>
            </a:pPr>
            <a:r>
              <a:rPr lang="en-US" sz="1000"/>
              <a:t>Modifikasi durasi &amp; praktik langsung → pelatihan disesuaikan dengan ketersediaan guru agar bisa efektif. Setiap sesi idealnya mencakup praktik langsung seperti pembuatan lesson plan</a:t>
            </a:r>
            <a:endParaRPr sz="1000"/>
          </a:p>
          <a:p>
            <a:pPr indent="-292100" lvl="0" marL="457200" rtl="0" algn="l">
              <a:spcBef>
                <a:spcPts val="0"/>
              </a:spcBef>
              <a:spcAft>
                <a:spcPts val="0"/>
              </a:spcAft>
              <a:buSzPts val="1000"/>
              <a:buChar char="-"/>
            </a:pPr>
            <a:r>
              <a:rPr lang="en-US" sz="1000"/>
              <a:t>Integrasi alat bantu fisik → mental health toolkit terpisah membantu mendistraksi siswa dari emosi negatif saat krisis terjadi (Based on Project Aware Ohio)</a:t>
            </a:r>
            <a:endParaRPr sz="1000"/>
          </a:p>
          <a:p>
            <a:pPr indent="-292100" lvl="0" marL="457200" rtl="0" algn="l">
              <a:spcBef>
                <a:spcPts val="0"/>
              </a:spcBef>
              <a:spcAft>
                <a:spcPts val="0"/>
              </a:spcAft>
              <a:buSzPts val="1000"/>
              <a:buChar char="-"/>
            </a:pPr>
            <a:r>
              <a:rPr lang="en-US" sz="1000"/>
              <a:t>Fasilitas Rujukan &amp; Evaluasi → ada buku panduan/ modul agar guru memiliki pegangan pasca pelatihan.</a:t>
            </a:r>
            <a:endParaRPr sz="1000"/>
          </a:p>
          <a:p>
            <a:pPr indent="-292100" lvl="0" marL="457200" rtl="0" algn="l">
              <a:spcBef>
                <a:spcPts val="0"/>
              </a:spcBef>
              <a:spcAft>
                <a:spcPts val="0"/>
              </a:spcAft>
              <a:buSzPts val="1000"/>
              <a:buChar char="-"/>
            </a:pPr>
            <a:r>
              <a:rPr lang="en-US" sz="1000"/>
              <a:t>Dukungan ganda (dual role) → MHFA training dan kit tidak hanya untuk guru membantu siswa, tapi juga guru membangun dukungan mental antar rekan kerja.</a:t>
            </a:r>
            <a:endParaRPr sz="1000"/>
          </a:p>
          <a:p>
            <a:pPr indent="0" lvl="0" marL="457200" rtl="0" algn="l">
              <a:spcBef>
                <a:spcPts val="0"/>
              </a:spcBef>
              <a:spcAft>
                <a:spcPts val="0"/>
              </a:spcAft>
              <a:buNone/>
            </a:pPr>
            <a:r>
              <a:t/>
            </a:r>
            <a:endParaRPr sz="1000"/>
          </a:p>
          <a:p>
            <a:pPr indent="0" lvl="0" marL="457200" rtl="0" algn="l">
              <a:spcBef>
                <a:spcPts val="0"/>
              </a:spcBef>
              <a:spcAft>
                <a:spcPts val="0"/>
              </a:spcAft>
              <a:buNone/>
            </a:pPr>
            <a:r>
              <a:rPr lang="en-US" sz="1000" u="sng">
                <a:solidFill>
                  <a:schemeClr val="hlink"/>
                </a:solidFill>
                <a:hlinkClick r:id="rId4"/>
              </a:rPr>
              <a:t>http://recsam.edu.my/sub_SEA-BES/images/docs/PADL.pdf</a:t>
            </a:r>
            <a:r>
              <a:rPr lang="en-US" sz="1000"/>
              <a:t> </a:t>
            </a:r>
            <a:endParaRPr sz="1000"/>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Peran guru BK di sekolah-sekolah di Ambon: lebih sebagai “polisi sekolah” yang tugasnya mendisiplinkan siswa-siswi yang “nakal” atau kurang disiplin.</a:t>
            </a:r>
            <a:endParaRPr/>
          </a:p>
          <a:p>
            <a:pPr indent="0" lvl="0" marL="0" rtl="0" algn="l">
              <a:spcBef>
                <a:spcPts val="0"/>
              </a:spcBef>
              <a:spcAft>
                <a:spcPts val="0"/>
              </a:spcAft>
              <a:buNone/>
            </a:pPr>
            <a:r>
              <a:rPr lang="en-US"/>
              <a:t>Idealnya, menurut </a:t>
            </a:r>
            <a:r>
              <a:rPr b="1" i="1" lang="en-US" u="sng"/>
              <a:t>Peraturan Kementerian Pendidikan dan Kebudayaan (Permendikbud) No. 111 Tahun 2014</a:t>
            </a:r>
            <a:r>
              <a:rPr lang="en-US"/>
              <a:t>:</a:t>
            </a:r>
            <a:endParaRPr/>
          </a:p>
          <a:p>
            <a:pPr indent="-298450" lvl="0" marL="457200" rtl="0" algn="l">
              <a:spcBef>
                <a:spcPts val="0"/>
              </a:spcBef>
              <a:spcAft>
                <a:spcPts val="0"/>
              </a:spcAft>
              <a:buSzPts val="1100"/>
              <a:buChar char="-"/>
            </a:pPr>
            <a:r>
              <a:rPr lang="en-US"/>
              <a:t>Untuk SMA → ratio ideal adalah 1 Guru BK/ Konselor untuk tiap 150 peserta didik</a:t>
            </a:r>
            <a:endParaRPr/>
          </a:p>
          <a:p>
            <a:pPr indent="-298450" lvl="0" marL="457200" rtl="0" algn="l">
              <a:spcBef>
                <a:spcPts val="0"/>
              </a:spcBef>
              <a:spcAft>
                <a:spcPts val="0"/>
              </a:spcAft>
              <a:buSzPts val="1100"/>
              <a:buChar char="-"/>
            </a:pPr>
            <a:r>
              <a:rPr lang="en-US"/>
              <a:t>4 macam layanan: dasar, peminatan dan perencanaan individual, </a:t>
            </a:r>
            <a:r>
              <a:rPr b="1" lang="en-US"/>
              <a:t>responsif</a:t>
            </a:r>
            <a:r>
              <a:rPr lang="en-US"/>
              <a:t>, dan dukungan sistem</a:t>
            </a:r>
            <a:endParaRPr/>
          </a:p>
          <a:p>
            <a:pPr indent="-298450" lvl="0" marL="457200" rtl="0" algn="l">
              <a:spcBef>
                <a:spcPts val="0"/>
              </a:spcBef>
              <a:spcAft>
                <a:spcPts val="0"/>
              </a:spcAft>
              <a:buSzPts val="1100"/>
              <a:buChar char="-"/>
            </a:pPr>
            <a:r>
              <a:rPr lang="en-US"/>
              <a:t>4 bidang layanan: pribadi, pelajaran, sosial, karir.</a:t>
            </a:r>
            <a:endParaRPr/>
          </a:p>
          <a:p>
            <a:pPr indent="-298450" lvl="0" marL="457200" rtl="0" algn="l">
              <a:spcBef>
                <a:spcPts val="0"/>
              </a:spcBef>
              <a:spcAft>
                <a:spcPts val="0"/>
              </a:spcAft>
              <a:buSzPts val="1100"/>
              <a:buChar char="-"/>
            </a:pPr>
            <a:r>
              <a:rPr lang="en-US"/>
              <a:t>Layanan </a:t>
            </a:r>
            <a:r>
              <a:rPr b="1" lang="en-US"/>
              <a:t>responsif</a:t>
            </a:r>
            <a:r>
              <a:rPr lang="en-US"/>
              <a:t>: pemberian bantuan kepada peserta didik yang mengalami masalah dan membutuhkan pertolongan dengan segera, agar peserta didik tidak mengalami hambatan dalam proses perkembangannya. Strategi layanan: konseling individu/kelompok, kunjungan rumah, hingga referral</a:t>
            </a:r>
            <a:endParaRPr/>
          </a:p>
          <a:p>
            <a:pPr indent="-298450" lvl="0" marL="457200" rtl="0" algn="l">
              <a:spcBef>
                <a:spcPts val="0"/>
              </a:spcBef>
              <a:spcAft>
                <a:spcPts val="0"/>
              </a:spcAft>
              <a:buSzPts val="1100"/>
              <a:buChar char="-"/>
            </a:pPr>
            <a:r>
              <a:rPr b="1" lang="en-US"/>
              <a:t>Dukungan sistem</a:t>
            </a:r>
            <a:r>
              <a:rPr lang="en-US"/>
              <a:t>: pengembangan kemampuan profesional konselor/ guru BK yang berkelanjutan sebagai salah satu upaya mendukung efektivitas dan efisiensi pelayanan bimbingan&amp;konseling → membantu dan memfasilitasi peserta didik</a:t>
            </a:r>
            <a:endParaRPr/>
          </a:p>
          <a:p>
            <a:pPr indent="0" lvl="0" marL="0" rtl="0" algn="l">
              <a:spcBef>
                <a:spcPts val="0"/>
              </a:spcBef>
              <a:spcAft>
                <a:spcPts val="0"/>
              </a:spcAft>
              <a:buNone/>
            </a:pPr>
            <a:r>
              <a:rPr lang="en-US">
                <a:solidFill>
                  <a:schemeClr val="dk1"/>
                </a:solidFill>
              </a:rPr>
              <a:t>Guru BK tidak boleh lagi terjebak paradigma lama sebagai ‘polisi sekolah’ atau tempat menghukum anak nakal. Arah kebijakan BK bergeser dari kuratif-administratif menjadi model transformatif-komprehensif yang </a:t>
            </a:r>
            <a:r>
              <a:rPr b="1" lang="en-US">
                <a:solidFill>
                  <a:schemeClr val="dk1"/>
                </a:solidFill>
              </a:rPr>
              <a:t>tidak menunggu masalah datang</a:t>
            </a:r>
            <a:r>
              <a:rPr lang="en-US">
                <a:solidFill>
                  <a:schemeClr val="dk1"/>
                </a:solidFill>
              </a:rPr>
              <a:t>, melainkan </a:t>
            </a:r>
            <a:r>
              <a:rPr b="1" lang="en-US">
                <a:solidFill>
                  <a:schemeClr val="dk1"/>
                </a:solidFill>
              </a:rPr>
              <a:t>membangun ekosistem perkembangan murid yang proaktif dan data-driven.</a:t>
            </a:r>
            <a:endParaRPr sz="1200">
              <a:solidFill>
                <a:srgbClr val="52525C"/>
              </a:solidFill>
              <a:highlight>
                <a:srgbClr val="FFFFFF"/>
              </a:highlight>
              <a:latin typeface="Open Sans"/>
              <a:ea typeface="Open Sans"/>
              <a:cs typeface="Open Sans"/>
              <a:sym typeface="Open Sans"/>
            </a:endParaRPr>
          </a:p>
          <a:p>
            <a:pPr indent="0" lvl="0" marL="0" rtl="0" algn="l">
              <a:spcBef>
                <a:spcPts val="0"/>
              </a:spcBef>
              <a:spcAft>
                <a:spcPts val="0"/>
              </a:spcAft>
              <a:buNone/>
            </a:pPr>
            <a:r>
              <a:t/>
            </a:r>
            <a:endParaRPr sz="1200">
              <a:solidFill>
                <a:srgbClr val="52525C"/>
              </a:solidFill>
              <a:highlight>
                <a:srgbClr val="FFFFFF"/>
              </a:highlight>
              <a:latin typeface="Open Sans"/>
              <a:ea typeface="Open Sans"/>
              <a:cs typeface="Open Sans"/>
              <a:sym typeface="Open Sans"/>
            </a:endParaRPr>
          </a:p>
        </p:txBody>
      </p:sp>
      <p:sp>
        <p:nvSpPr>
          <p:cNvPr id="256" name="Google Shape;25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u="sng"/>
              <a:t>Social Entrepreneurship</a:t>
            </a:r>
            <a:endParaRPr b="1" u="sng"/>
          </a:p>
          <a:p>
            <a:pPr indent="0" lvl="0" marL="0" rtl="0" algn="l">
              <a:spcBef>
                <a:spcPts val="0"/>
              </a:spcBef>
              <a:spcAft>
                <a:spcPts val="0"/>
              </a:spcAft>
              <a:buNone/>
            </a:pPr>
            <a:r>
              <a:rPr lang="en-US"/>
              <a:t>Komersialisasi &amp; Subsidi silang:</a:t>
            </a:r>
            <a:endParaRPr/>
          </a:p>
          <a:p>
            <a:pPr indent="0" lvl="0" marL="0" rtl="0" algn="l">
              <a:spcBef>
                <a:spcPts val="0"/>
              </a:spcBef>
              <a:spcAft>
                <a:spcPts val="0"/>
              </a:spcAft>
              <a:buNone/>
            </a:pPr>
            <a:r>
              <a:rPr lang="en-US"/>
              <a:t>Pilot projectnya memang untuk anak SMA, tapi saat instrumennya sudah terbukti valid maka bisa diperluas tidak hanya ke kalangan SMA saja tadi juga ke tingkat pendidikan lain (SMP bahkan SD</a:t>
            </a:r>
            <a:endParaRPr/>
          </a:p>
          <a:p>
            <a:pPr indent="-298450" lvl="0" marL="457200" rtl="0" algn="l">
              <a:spcBef>
                <a:spcPts val="0"/>
              </a:spcBef>
              <a:spcAft>
                <a:spcPts val="0"/>
              </a:spcAft>
              <a:buSzPts val="1100"/>
              <a:buChar char="-"/>
            </a:pPr>
            <a:r>
              <a:rPr lang="en-US"/>
              <a:t>B2B: komersialisasi produk MHFA Kit dan ToT berbayar, terutama diutamakan ke sekolah-sekolah swasta di kota/ daerah yang lebih besar.</a:t>
            </a:r>
            <a:endParaRPr/>
          </a:p>
          <a:p>
            <a:pPr indent="-298450" lvl="0" marL="457200" rtl="0" algn="l">
              <a:spcBef>
                <a:spcPts val="0"/>
              </a:spcBef>
              <a:spcAft>
                <a:spcPts val="0"/>
              </a:spcAft>
              <a:buSzPts val="1100"/>
              <a:buChar char="-"/>
            </a:pPr>
            <a:r>
              <a:rPr lang="en-US"/>
              <a:t>B2G: bermitra dengan dinas kesehatan, bisa dimulai dari skala kecil seperti Puskesmas terlebih dahulu. MHFA Kit bisa dikomersialisasikan ke puskesmas untuk membantu dalam tindak lanjut screening program puskesmas (CKG Anak Sekolah dimana salah satu skrining yang dilakukan adalah skrining kesehatan jiwa). Kit ini bisa melengkapi program pemerintah dengan memberikan instrumen operasional harian yang mandiri di sekolah.</a:t>
            </a:r>
            <a:endParaRPr/>
          </a:p>
          <a:p>
            <a:pPr indent="-298450" lvl="0" marL="457200" rtl="0" algn="l">
              <a:spcBef>
                <a:spcPts val="0"/>
              </a:spcBef>
              <a:spcAft>
                <a:spcPts val="0"/>
              </a:spcAft>
              <a:buSzPts val="1100"/>
              <a:buChar char="-"/>
            </a:pPr>
            <a:r>
              <a:rPr lang="en-US"/>
              <a:t>Subsidi silang (</a:t>
            </a:r>
            <a:r>
              <a:rPr i="1" lang="en-US"/>
              <a:t>Robin Hood business model</a:t>
            </a:r>
            <a:r>
              <a:rPr lang="en-US"/>
              <a:t>): Keuntungan yang didapatkan dari kemitraan B2B dan B2G digunakan untuk subsidi dan distribusi kit serta pelatihan dengan biaya lebih rendah/ gratis ke sekolah-sekolah di daerah terpencil yang selama ini sulit dijangkau. </a:t>
            </a:r>
            <a:endParaRPr/>
          </a:p>
        </p:txBody>
      </p:sp>
      <p:sp>
        <p:nvSpPr>
          <p:cNvPr id="274" name="Google Shape;274;p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h430fb2d5176292bb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h430fb2d5176292bb_0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4220e53109368d26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4220e53109368d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43cef59f3d14e668_8_0)">
  <p:cSld name="Generated (h43cef59f3d14e668_8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6.jpg"/></Relationships>
</file>

<file path=ppt/slides/_rels/slide2.xml.rels><?xml version="1.0" encoding="UTF-8" standalone="yes"?><Relationships xmlns="http://schemas.openxmlformats.org/package/2006/relationships"><Relationship Id="rId10" Type="http://schemas.openxmlformats.org/officeDocument/2006/relationships/image" Target="../media/image2.png"/><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9.png"/><Relationship Id="rId5" Type="http://schemas.openxmlformats.org/officeDocument/2006/relationships/image" Target="../media/image24.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7.png"/><Relationship Id="rId7" Type="http://schemas.openxmlformats.org/officeDocument/2006/relationships/image" Target="../media/image21.png"/><Relationship Id="rId8"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5.png"/><Relationship Id="rId6" Type="http://schemas.openxmlformats.org/officeDocument/2006/relationships/image" Target="../media/image20.png"/><Relationship Id="rId7"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1.xml"/><Relationship Id="rId4" Type="http://schemas.openxmlformats.org/officeDocument/2006/relationships/image" Target="../media/image8.png"/><Relationship Id="rId5"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4"/>
          <p:cNvSpPr/>
          <p:nvPr/>
        </p:nvSpPr>
        <p:spPr>
          <a:xfrm>
            <a:off x="-952500" y="-952500"/>
            <a:ext cx="4762500" cy="4762500"/>
          </a:xfrm>
          <a:prstGeom prst="roundRect">
            <a:avLst>
              <a:gd fmla="val 50000" name="adj"/>
            </a:avLst>
          </a:prstGeom>
          <a:solidFill>
            <a:srgbClr val="F0FDFA">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descr="A warm, hopeful illustration of Indonesian high school students supporting each other, modern clean vector style, soft teal and warm pastel colors, peaceful and inclusive atmosphere" id="86" name="Google Shape;86;p14"/>
          <p:cNvPicPr preferRelativeResize="0"/>
          <p:nvPr/>
        </p:nvPicPr>
        <p:blipFill rotWithShape="1">
          <a:blip r:embed="rId4">
            <a:alphaModFix/>
          </a:blip>
          <a:srcRect b="6732" l="0" r="0" t="6732"/>
          <a:stretch/>
        </p:blipFill>
        <p:spPr>
          <a:xfrm>
            <a:off x="6629400" y="571500"/>
            <a:ext cx="4953000" cy="5715000"/>
          </a:xfrm>
          <a:prstGeom prst="roundRect">
            <a:avLst>
              <a:gd fmla="val 4615" name="adj"/>
            </a:avLst>
          </a:prstGeom>
          <a:noFill/>
          <a:ln>
            <a:noFill/>
          </a:ln>
        </p:spPr>
      </p:pic>
      <p:grpSp>
        <p:nvGrpSpPr>
          <p:cNvPr id="87" name="Google Shape;87;p14"/>
          <p:cNvGrpSpPr/>
          <p:nvPr/>
        </p:nvGrpSpPr>
        <p:grpSpPr>
          <a:xfrm>
            <a:off x="609600" y="952500"/>
            <a:ext cx="5524500" cy="2524275"/>
            <a:chOff x="0" y="0"/>
            <a:chExt cx="5524500" cy="2524275"/>
          </a:xfrm>
        </p:grpSpPr>
        <p:sp>
          <p:nvSpPr>
            <p:cNvPr id="88" name="Google Shape;88;p14"/>
            <p:cNvSpPr txBox="1"/>
            <p:nvPr/>
          </p:nvSpPr>
          <p:spPr>
            <a:xfrm>
              <a:off x="0" y="0"/>
              <a:ext cx="5524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0D9488"/>
                  </a:solidFill>
                  <a:latin typeface="Plus Jakarta Sans"/>
                  <a:ea typeface="Plus Jakarta Sans"/>
                  <a:cs typeface="Plus Jakarta Sans"/>
                  <a:sym typeface="Plus Jakarta Sans"/>
                </a:rPr>
                <a:t>PROPOSAL PROYEK SOSIAL · PFMUDA 2026</a:t>
              </a:r>
              <a:endParaRPr b="1" sz="1200">
                <a:solidFill>
                  <a:srgbClr val="0D9488"/>
                </a:solidFill>
                <a:latin typeface="Plus Jakarta Sans"/>
                <a:ea typeface="Plus Jakarta Sans"/>
                <a:cs typeface="Plus Jakarta Sans"/>
                <a:sym typeface="Plus Jakarta Sans"/>
              </a:endParaRPr>
            </a:p>
          </p:txBody>
        </p:sp>
        <p:sp>
          <p:nvSpPr>
            <p:cNvPr id="89" name="Google Shape;89;p14"/>
            <p:cNvSpPr txBox="1"/>
            <p:nvPr/>
          </p:nvSpPr>
          <p:spPr>
            <a:xfrm>
              <a:off x="0" y="333375"/>
              <a:ext cx="55245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800">
                  <a:solidFill>
                    <a:srgbClr val="0F2942"/>
                  </a:solidFill>
                  <a:latin typeface="Plus Jakarta Sans"/>
                  <a:ea typeface="Plus Jakarta Sans"/>
                  <a:cs typeface="Plus Jakarta Sans"/>
                  <a:sym typeface="Plus Jakarta Sans"/>
                </a:rPr>
                <a:t>ADA Baku Jaga: Sekolah Inklusif Adaptif</a:t>
              </a:r>
              <a:endParaRPr b="1" sz="3800">
                <a:solidFill>
                  <a:srgbClr val="0F2942"/>
                </a:solidFill>
                <a:latin typeface="Plus Jakarta Sans"/>
                <a:ea typeface="Plus Jakarta Sans"/>
                <a:cs typeface="Plus Jakarta Sans"/>
                <a:sym typeface="Plus Jakarta Sans"/>
              </a:endParaRPr>
            </a:p>
          </p:txBody>
        </p:sp>
        <p:sp>
          <p:nvSpPr>
            <p:cNvPr id="90" name="Google Shape;90;p14"/>
            <p:cNvSpPr txBox="1"/>
            <p:nvPr/>
          </p:nvSpPr>
          <p:spPr>
            <a:xfrm>
              <a:off x="0" y="1666875"/>
              <a:ext cx="5334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400">
                  <a:solidFill>
                    <a:srgbClr val="475569"/>
                  </a:solidFill>
                  <a:latin typeface="Plus Jakarta Sans"/>
                  <a:ea typeface="Plus Jakarta Sans"/>
                  <a:cs typeface="Plus Jakarta Sans"/>
                  <a:sym typeface="Plus Jakarta Sans"/>
                </a:rPr>
                <a:t>Inisiatif pendidikan inklusif di Ambon untuk memperkuat kesehatan mental siswa melalui keterampilan </a:t>
              </a:r>
              <a:r>
                <a:rPr b="0" i="1" lang="en-US" sz="1400">
                  <a:solidFill>
                    <a:srgbClr val="475569"/>
                  </a:solidFill>
                  <a:latin typeface="Plus Jakarta Sans"/>
                  <a:ea typeface="Plus Jakarta Sans"/>
                  <a:cs typeface="Plus Jakarta Sans"/>
                  <a:sym typeface="Plus Jakarta Sans"/>
                </a:rPr>
                <a:t>Mental Health First Aid (MHFA).</a:t>
              </a:r>
              <a:endParaRPr b="0" i="1" sz="1400">
                <a:solidFill>
                  <a:srgbClr val="475569"/>
                </a:solidFill>
                <a:latin typeface="Plus Jakarta Sans"/>
                <a:ea typeface="Plus Jakarta Sans"/>
                <a:cs typeface="Plus Jakarta Sans"/>
                <a:sym typeface="Plus Jakarta Sans"/>
              </a:endParaRPr>
            </a:p>
          </p:txBody>
        </p:sp>
      </p:grpSp>
      <p:sp>
        <p:nvSpPr>
          <p:cNvPr id="91" name="Google Shape;91;p14"/>
          <p:cNvSpPr/>
          <p:nvPr/>
        </p:nvSpPr>
        <p:spPr>
          <a:xfrm>
            <a:off x="609600" y="3714750"/>
            <a:ext cx="5334000" cy="96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2" name="Google Shape;92;p14"/>
          <p:cNvGrpSpPr/>
          <p:nvPr/>
        </p:nvGrpSpPr>
        <p:grpSpPr>
          <a:xfrm>
            <a:off x="609600" y="4000500"/>
            <a:ext cx="2476500" cy="1047900"/>
            <a:chOff x="0" y="0"/>
            <a:chExt cx="2476500" cy="1047900"/>
          </a:xfrm>
        </p:grpSpPr>
        <p:sp>
          <p:nvSpPr>
            <p:cNvPr id="93" name="Google Shape;93;p14"/>
            <p:cNvSpPr/>
            <p:nvPr/>
          </p:nvSpPr>
          <p:spPr>
            <a:xfrm>
              <a:off x="0" y="0"/>
              <a:ext cx="2476500" cy="1047900"/>
            </a:xfrm>
            <a:prstGeom prst="roundRect">
              <a:avLst>
                <a:gd fmla="val 1090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4"/>
            <p:cNvSpPr txBox="1"/>
            <p:nvPr/>
          </p:nvSpPr>
          <p:spPr>
            <a:xfrm>
              <a:off x="190500" y="190500"/>
              <a:ext cx="2095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942"/>
                  </a:solidFill>
                  <a:latin typeface="Plus Jakarta Sans"/>
                  <a:ea typeface="Plus Jakarta Sans"/>
                  <a:cs typeface="Plus Jakarta Sans"/>
                  <a:sym typeface="Plus Jakarta Sans"/>
                </a:rPr>
                <a:t>Inisiator Program</a:t>
              </a:r>
              <a:endParaRPr b="1" sz="1100">
                <a:solidFill>
                  <a:srgbClr val="0F2942"/>
                </a:solidFill>
                <a:latin typeface="Plus Jakarta Sans"/>
                <a:ea typeface="Plus Jakarta Sans"/>
                <a:cs typeface="Plus Jakarta Sans"/>
                <a:sym typeface="Plus Jakarta Sans"/>
              </a:endParaRPr>
            </a:p>
          </p:txBody>
        </p:sp>
        <p:sp>
          <p:nvSpPr>
            <p:cNvPr id="95" name="Google Shape;95;p14"/>
            <p:cNvSpPr txBox="1"/>
            <p:nvPr/>
          </p:nvSpPr>
          <p:spPr>
            <a:xfrm>
              <a:off x="190500" y="411327"/>
              <a:ext cx="20955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766E"/>
                  </a:solidFill>
                  <a:latin typeface="Plus Jakarta Sans"/>
                  <a:ea typeface="Plus Jakarta Sans"/>
                  <a:cs typeface="Plus Jakarta Sans"/>
                  <a:sym typeface="Plus Jakarta Sans"/>
                </a:rPr>
                <a:t>Tim AdaUntukMu</a:t>
              </a:r>
              <a:br>
                <a:rPr b="0" lang="en-US" sz="1100">
                  <a:solidFill>
                    <a:srgbClr val="0F766E"/>
                  </a:solidFill>
                  <a:latin typeface="Plus Jakarta Sans"/>
                  <a:ea typeface="Plus Jakarta Sans"/>
                  <a:cs typeface="Plus Jakarta Sans"/>
                  <a:sym typeface="Plus Jakarta Sans"/>
                </a:rPr>
              </a:br>
              <a:r>
                <a:rPr b="1" lang="en-US" sz="1100">
                  <a:solidFill>
                    <a:srgbClr val="0F766E"/>
                  </a:solidFill>
                  <a:latin typeface="Plus Jakarta Sans"/>
                  <a:ea typeface="Plus Jakarta Sans"/>
                  <a:cs typeface="Plus Jakarta Sans"/>
                  <a:sym typeface="Plus Jakarta Sans"/>
                </a:rPr>
                <a:t>Theodore Great S. Aipassa., S.I.P</a:t>
              </a:r>
              <a:endParaRPr b="0" sz="1100">
                <a:solidFill>
                  <a:srgbClr val="0F766E"/>
                </a:solidFill>
                <a:latin typeface="Plus Jakarta Sans"/>
                <a:ea typeface="Plus Jakarta Sans"/>
                <a:cs typeface="Plus Jakarta Sans"/>
                <a:sym typeface="Plus Jakarta Sans"/>
              </a:endParaRPr>
            </a:p>
          </p:txBody>
        </p:sp>
      </p:grpSp>
      <p:grpSp>
        <p:nvGrpSpPr>
          <p:cNvPr id="96" name="Google Shape;96;p14"/>
          <p:cNvGrpSpPr/>
          <p:nvPr/>
        </p:nvGrpSpPr>
        <p:grpSpPr>
          <a:xfrm>
            <a:off x="3276600" y="4000500"/>
            <a:ext cx="2667000" cy="1047900"/>
            <a:chOff x="0" y="0"/>
            <a:chExt cx="2667000" cy="1047900"/>
          </a:xfrm>
        </p:grpSpPr>
        <p:sp>
          <p:nvSpPr>
            <p:cNvPr id="97" name="Google Shape;97;p14"/>
            <p:cNvSpPr/>
            <p:nvPr/>
          </p:nvSpPr>
          <p:spPr>
            <a:xfrm>
              <a:off x="0" y="0"/>
              <a:ext cx="2667000" cy="1047900"/>
            </a:xfrm>
            <a:prstGeom prst="roundRect">
              <a:avLst>
                <a:gd fmla="val 10909"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14"/>
            <p:cNvSpPr txBox="1"/>
            <p:nvPr/>
          </p:nvSpPr>
          <p:spPr>
            <a:xfrm>
              <a:off x="190500" y="190500"/>
              <a:ext cx="2286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2942"/>
                  </a:solidFill>
                  <a:latin typeface="Plus Jakarta Sans"/>
                  <a:ea typeface="Plus Jakarta Sans"/>
                  <a:cs typeface="Plus Jakarta Sans"/>
                  <a:sym typeface="Plus Jakarta Sans"/>
                </a:rPr>
                <a:t>Fokus &amp; Lokasi Intervensi</a:t>
              </a:r>
              <a:endParaRPr b="1" sz="1100">
                <a:solidFill>
                  <a:srgbClr val="0F2942"/>
                </a:solidFill>
                <a:latin typeface="Plus Jakarta Sans"/>
                <a:ea typeface="Plus Jakarta Sans"/>
                <a:cs typeface="Plus Jakarta Sans"/>
                <a:sym typeface="Plus Jakarta Sans"/>
              </a:endParaRPr>
            </a:p>
          </p:txBody>
        </p:sp>
        <p:sp>
          <p:nvSpPr>
            <p:cNvPr id="99" name="Google Shape;99;p14"/>
            <p:cNvSpPr txBox="1"/>
            <p:nvPr/>
          </p:nvSpPr>
          <p:spPr>
            <a:xfrm>
              <a:off x="190500" y="457200"/>
              <a:ext cx="2286000" cy="428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F766E"/>
                  </a:solidFill>
                  <a:latin typeface="Plus Jakarta Sans"/>
                  <a:ea typeface="Plus Jakarta Sans"/>
                  <a:cs typeface="Plus Jakarta Sans"/>
                  <a:sym typeface="Plus Jakarta Sans"/>
                </a:rPr>
                <a:t>Pendidikan Inklusif &amp; Adaptif</a:t>
              </a:r>
              <a:br>
                <a:rPr b="0" lang="en-US" sz="1100">
                  <a:solidFill>
                    <a:srgbClr val="0F766E"/>
                  </a:solidFill>
                  <a:latin typeface="Plus Jakarta Sans"/>
                  <a:ea typeface="Plus Jakarta Sans"/>
                  <a:cs typeface="Plus Jakarta Sans"/>
                  <a:sym typeface="Plus Jakarta Sans"/>
                </a:rPr>
              </a:br>
              <a:r>
                <a:rPr b="1" lang="en-US" sz="1100">
                  <a:solidFill>
                    <a:srgbClr val="0F766E"/>
                  </a:solidFill>
                  <a:latin typeface="Plus Jakarta Sans"/>
                  <a:ea typeface="Plus Jakarta Sans"/>
                  <a:cs typeface="Plus Jakarta Sans"/>
                  <a:sym typeface="Plus Jakarta Sans"/>
                </a:rPr>
                <a:t>Kota Ambon, Maluku</a:t>
              </a:r>
              <a:endParaRPr b="0" sz="1100">
                <a:solidFill>
                  <a:srgbClr val="0F766E"/>
                </a:solidFill>
                <a:latin typeface="Plus Jakarta Sans"/>
                <a:ea typeface="Plus Jakarta Sans"/>
                <a:cs typeface="Plus Jakarta Sans"/>
                <a:sym typeface="Plus Jakarta Sans"/>
              </a:endParaRPr>
            </a:p>
          </p:txBody>
        </p:sp>
      </p:grpSp>
      <p:grpSp>
        <p:nvGrpSpPr>
          <p:cNvPr id="100" name="Google Shape;100;p14"/>
          <p:cNvGrpSpPr/>
          <p:nvPr/>
        </p:nvGrpSpPr>
        <p:grpSpPr>
          <a:xfrm>
            <a:off x="609600" y="5286375"/>
            <a:ext cx="5334000" cy="619200"/>
            <a:chOff x="0" y="0"/>
            <a:chExt cx="5334000" cy="619200"/>
          </a:xfrm>
        </p:grpSpPr>
        <p:sp>
          <p:nvSpPr>
            <p:cNvPr id="101" name="Google Shape;101;p14"/>
            <p:cNvSpPr/>
            <p:nvPr/>
          </p:nvSpPr>
          <p:spPr>
            <a:xfrm>
              <a:off x="0" y="0"/>
              <a:ext cx="5334000" cy="619200"/>
            </a:xfrm>
            <a:prstGeom prst="roundRect">
              <a:avLst>
                <a:gd fmla="val 18461" name="adj"/>
              </a:avLst>
            </a:prstGeom>
            <a:solidFill>
              <a:srgbClr val="F0FDFA"/>
            </a:solidFill>
            <a:ln cap="flat" cmpd="sng" w="9525">
              <a:solidFill>
                <a:srgbClr val="CCFB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190500" y="209550"/>
              <a:ext cx="4953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100">
                  <a:solidFill>
                    <a:srgbClr val="0D9488"/>
                  </a:solidFill>
                  <a:latin typeface="Plus Jakarta Sans"/>
                  <a:ea typeface="Plus Jakarta Sans"/>
                  <a:cs typeface="Plus Jakarta Sans"/>
                  <a:sym typeface="Plus Jakarta Sans"/>
                </a:rPr>
                <a:t>Kategori Ideation · Biaya Usulan: Rp 15.000.000,-</a:t>
              </a:r>
              <a:endParaRPr b="0" sz="1100">
                <a:solidFill>
                  <a:srgbClr val="0D9488"/>
                </a:solidFill>
                <a:latin typeface="Plus Jakarta Sans"/>
                <a:ea typeface="Plus Jakarta Sans"/>
                <a:cs typeface="Plus Jakarta Sans"/>
                <a:sym typeface="Plus Jakarta Sans"/>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15"/>
          <p:cNvSpPr/>
          <p:nvPr/>
        </p:nvSpPr>
        <p:spPr>
          <a:xfrm>
            <a:off x="609600" y="2801242"/>
            <a:ext cx="2600325" cy="2158305"/>
          </a:xfrm>
          <a:prstGeom prst="roundRect">
            <a:avLst>
              <a:gd fmla="val 529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5"/>
          <p:cNvSpPr/>
          <p:nvPr/>
        </p:nvSpPr>
        <p:spPr>
          <a:xfrm>
            <a:off x="3400425" y="2801242"/>
            <a:ext cx="2600325" cy="2158305"/>
          </a:xfrm>
          <a:prstGeom prst="roundRect">
            <a:avLst>
              <a:gd fmla="val 529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5"/>
          <p:cNvSpPr/>
          <p:nvPr/>
        </p:nvSpPr>
        <p:spPr>
          <a:xfrm>
            <a:off x="6191250" y="2801242"/>
            <a:ext cx="2600325" cy="2158305"/>
          </a:xfrm>
          <a:prstGeom prst="roundRect">
            <a:avLst>
              <a:gd fmla="val 529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 name="Google Shape;110;p15"/>
          <p:cNvSpPr/>
          <p:nvPr/>
        </p:nvSpPr>
        <p:spPr>
          <a:xfrm>
            <a:off x="8982075" y="2801242"/>
            <a:ext cx="2600325" cy="2158305"/>
          </a:xfrm>
          <a:prstGeom prst="roundRect">
            <a:avLst>
              <a:gd fmla="val 529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1" name="Google Shape;111;p15"/>
          <p:cNvPicPr preferRelativeResize="0"/>
          <p:nvPr/>
        </p:nvPicPr>
        <p:blipFill rotWithShape="1">
          <a:blip r:embed="rId3">
            <a:alphaModFix/>
          </a:blip>
          <a:srcRect b="0" l="0" r="0" t="0"/>
          <a:stretch/>
        </p:blipFill>
        <p:spPr>
          <a:xfrm>
            <a:off x="1604962" y="3039367"/>
            <a:ext cx="609600" cy="609600"/>
          </a:xfrm>
          <a:prstGeom prst="rect">
            <a:avLst/>
          </a:prstGeom>
          <a:noFill/>
          <a:ln>
            <a:noFill/>
          </a:ln>
        </p:spPr>
      </p:pic>
      <p:pic>
        <p:nvPicPr>
          <p:cNvPr descr="image.png" id="112" name="Google Shape;112;p15"/>
          <p:cNvPicPr preferRelativeResize="0"/>
          <p:nvPr/>
        </p:nvPicPr>
        <p:blipFill rotWithShape="1">
          <a:blip r:embed="rId4">
            <a:alphaModFix/>
          </a:blip>
          <a:srcRect b="0" l="0" r="0" t="0"/>
          <a:stretch/>
        </p:blipFill>
        <p:spPr>
          <a:xfrm>
            <a:off x="4395787" y="3039367"/>
            <a:ext cx="609600" cy="609600"/>
          </a:xfrm>
          <a:prstGeom prst="rect">
            <a:avLst/>
          </a:prstGeom>
          <a:noFill/>
          <a:ln>
            <a:noFill/>
          </a:ln>
        </p:spPr>
      </p:pic>
      <p:pic>
        <p:nvPicPr>
          <p:cNvPr descr="image.png" id="113" name="Google Shape;113;p15"/>
          <p:cNvPicPr preferRelativeResize="0"/>
          <p:nvPr/>
        </p:nvPicPr>
        <p:blipFill rotWithShape="1">
          <a:blip r:embed="rId5">
            <a:alphaModFix/>
          </a:blip>
          <a:srcRect b="0" l="0" r="0" t="0"/>
          <a:stretch/>
        </p:blipFill>
        <p:spPr>
          <a:xfrm>
            <a:off x="7186612" y="3039367"/>
            <a:ext cx="609600" cy="609600"/>
          </a:xfrm>
          <a:prstGeom prst="rect">
            <a:avLst/>
          </a:prstGeom>
          <a:noFill/>
          <a:ln>
            <a:noFill/>
          </a:ln>
        </p:spPr>
      </p:pic>
      <p:pic>
        <p:nvPicPr>
          <p:cNvPr descr="image.png" id="114" name="Google Shape;114;p15"/>
          <p:cNvPicPr preferRelativeResize="0"/>
          <p:nvPr/>
        </p:nvPicPr>
        <p:blipFill rotWithShape="1">
          <a:blip r:embed="rId6">
            <a:alphaModFix/>
          </a:blip>
          <a:srcRect b="0" l="0" r="0" t="0"/>
          <a:stretch/>
        </p:blipFill>
        <p:spPr>
          <a:xfrm>
            <a:off x="9977437" y="3039367"/>
            <a:ext cx="609600" cy="609600"/>
          </a:xfrm>
          <a:prstGeom prst="rect">
            <a:avLst/>
          </a:prstGeom>
          <a:noFill/>
          <a:ln>
            <a:noFill/>
          </a:ln>
        </p:spPr>
      </p:pic>
      <p:pic>
        <p:nvPicPr>
          <p:cNvPr descr="image.png" id="115" name="Google Shape;115;p15"/>
          <p:cNvPicPr preferRelativeResize="0"/>
          <p:nvPr/>
        </p:nvPicPr>
        <p:blipFill rotWithShape="1">
          <a:blip r:embed="rId7">
            <a:alphaModFix/>
          </a:blip>
          <a:srcRect b="0" l="0" r="0" t="0"/>
          <a:stretch/>
        </p:blipFill>
        <p:spPr>
          <a:xfrm>
            <a:off x="1819275" y="3239392"/>
            <a:ext cx="180975" cy="209550"/>
          </a:xfrm>
          <a:prstGeom prst="rect">
            <a:avLst/>
          </a:prstGeom>
          <a:noFill/>
          <a:ln>
            <a:noFill/>
          </a:ln>
        </p:spPr>
      </p:pic>
      <p:pic>
        <p:nvPicPr>
          <p:cNvPr descr="image.png" id="116" name="Google Shape;116;p15"/>
          <p:cNvPicPr preferRelativeResize="0"/>
          <p:nvPr/>
        </p:nvPicPr>
        <p:blipFill rotWithShape="1">
          <a:blip r:embed="rId8">
            <a:alphaModFix/>
          </a:blip>
          <a:srcRect b="0" l="0" r="0" t="0"/>
          <a:stretch/>
        </p:blipFill>
        <p:spPr>
          <a:xfrm>
            <a:off x="4610100" y="3239392"/>
            <a:ext cx="180975" cy="209550"/>
          </a:xfrm>
          <a:prstGeom prst="rect">
            <a:avLst/>
          </a:prstGeom>
          <a:noFill/>
          <a:ln>
            <a:noFill/>
          </a:ln>
        </p:spPr>
      </p:pic>
      <p:pic>
        <p:nvPicPr>
          <p:cNvPr descr="image.png" id="117" name="Google Shape;117;p15"/>
          <p:cNvPicPr preferRelativeResize="0"/>
          <p:nvPr/>
        </p:nvPicPr>
        <p:blipFill rotWithShape="1">
          <a:blip r:embed="rId9">
            <a:alphaModFix/>
          </a:blip>
          <a:srcRect b="0" l="0" r="0" t="0"/>
          <a:stretch/>
        </p:blipFill>
        <p:spPr>
          <a:xfrm>
            <a:off x="7358062" y="3239392"/>
            <a:ext cx="266700" cy="209550"/>
          </a:xfrm>
          <a:prstGeom prst="rect">
            <a:avLst/>
          </a:prstGeom>
          <a:noFill/>
          <a:ln>
            <a:noFill/>
          </a:ln>
        </p:spPr>
      </p:pic>
      <p:pic>
        <p:nvPicPr>
          <p:cNvPr descr="image.png" id="118" name="Google Shape;118;p15"/>
          <p:cNvPicPr preferRelativeResize="0"/>
          <p:nvPr/>
        </p:nvPicPr>
        <p:blipFill rotWithShape="1">
          <a:blip r:embed="rId10">
            <a:alphaModFix/>
          </a:blip>
          <a:srcRect b="0" l="0" r="0" t="0"/>
          <a:stretch/>
        </p:blipFill>
        <p:spPr>
          <a:xfrm>
            <a:off x="10201275" y="3239392"/>
            <a:ext cx="161925" cy="209550"/>
          </a:xfrm>
          <a:prstGeom prst="rect">
            <a:avLst/>
          </a:prstGeom>
          <a:noFill/>
          <a:ln>
            <a:noFill/>
          </a:ln>
        </p:spPr>
      </p:pic>
      <p:sp>
        <p:nvSpPr>
          <p:cNvPr id="119" name="Google Shape;119;p15"/>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KEKUATAN PENGUSUL</a:t>
            </a:r>
            <a:endParaRPr/>
          </a:p>
        </p:txBody>
      </p:sp>
      <p:sp>
        <p:nvSpPr>
          <p:cNvPr id="120" name="Google Shape;120;p15"/>
          <p:cNvSpPr txBox="1"/>
          <p:nvPr/>
        </p:nvSpPr>
        <p:spPr>
          <a:xfrm>
            <a:off x="609600" y="704850"/>
            <a:ext cx="11582400" cy="3885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Struktur Tim Multidisiplin</a:t>
            </a:r>
            <a:endParaRPr/>
          </a:p>
        </p:txBody>
      </p:sp>
      <p:sp>
        <p:nvSpPr>
          <p:cNvPr id="121" name="Google Shape;121;p15"/>
          <p:cNvSpPr txBox="1"/>
          <p:nvPr/>
        </p:nvSpPr>
        <p:spPr>
          <a:xfrm>
            <a:off x="465832" y="3801367"/>
            <a:ext cx="28878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Theodore </a:t>
            </a:r>
            <a:r>
              <a:rPr b="1" lang="en-US" sz="1350">
                <a:solidFill>
                  <a:srgbClr val="0F2942"/>
                </a:solidFill>
                <a:latin typeface="Plus Jakarta Sans"/>
                <a:ea typeface="Plus Jakarta Sans"/>
                <a:cs typeface="Plus Jakarta Sans"/>
                <a:sym typeface="Plus Jakarta Sans"/>
              </a:rPr>
              <a:t>Great</a:t>
            </a:r>
            <a:r>
              <a:rPr b="1" i="0" lang="en-US" sz="1350" u="none" cap="none" strike="noStrike">
                <a:solidFill>
                  <a:srgbClr val="0F2942"/>
                </a:solidFill>
                <a:latin typeface="Plus Jakarta Sans"/>
                <a:ea typeface="Plus Jakarta Sans"/>
                <a:cs typeface="Plus Jakarta Sans"/>
                <a:sym typeface="Plus Jakarta Sans"/>
              </a:rPr>
              <a:t> Aipassa, S.I.</a:t>
            </a:r>
            <a:r>
              <a:rPr b="1" lang="en-US" sz="1350">
                <a:solidFill>
                  <a:srgbClr val="0F2942"/>
                </a:solidFill>
                <a:latin typeface="Plus Jakarta Sans"/>
                <a:ea typeface="Plus Jakarta Sans"/>
                <a:cs typeface="Plus Jakarta Sans"/>
                <a:sym typeface="Plus Jakarta Sans"/>
              </a:rPr>
              <a:t>P</a:t>
            </a:r>
            <a:endParaRPr/>
          </a:p>
        </p:txBody>
      </p:sp>
      <p:sp>
        <p:nvSpPr>
          <p:cNvPr id="122" name="Google Shape;122;p15"/>
          <p:cNvSpPr txBox="1"/>
          <p:nvPr/>
        </p:nvSpPr>
        <p:spPr>
          <a:xfrm>
            <a:off x="550734" y="4058542"/>
            <a:ext cx="27504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Ketua Tim (</a:t>
            </a:r>
            <a:r>
              <a:rPr b="1" lang="en-US" sz="1050">
                <a:solidFill>
                  <a:srgbClr val="0D9488"/>
                </a:solidFill>
                <a:latin typeface="Plus Jakarta Sans"/>
                <a:ea typeface="Plus Jakarta Sans"/>
                <a:cs typeface="Plus Jakarta Sans"/>
                <a:sym typeface="Plus Jakarta Sans"/>
              </a:rPr>
              <a:t>Student UC Berkeley</a:t>
            </a:r>
            <a:r>
              <a:rPr b="1" i="0" lang="en-US" sz="1050" u="none" cap="none" strike="noStrike">
                <a:solidFill>
                  <a:srgbClr val="0D9488"/>
                </a:solidFill>
                <a:latin typeface="Plus Jakarta Sans"/>
                <a:ea typeface="Plus Jakarta Sans"/>
                <a:cs typeface="Plus Jakarta Sans"/>
                <a:sym typeface="Plus Jakarta Sans"/>
              </a:rPr>
              <a:t>)</a:t>
            </a:r>
            <a:endParaRPr/>
          </a:p>
        </p:txBody>
      </p:sp>
      <p:sp>
        <p:nvSpPr>
          <p:cNvPr id="123" name="Google Shape;123;p15"/>
          <p:cNvSpPr txBox="1"/>
          <p:nvPr/>
        </p:nvSpPr>
        <p:spPr>
          <a:xfrm>
            <a:off x="534590" y="4325242"/>
            <a:ext cx="2750400" cy="424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Kepemimpinan proyek </a:t>
            </a:r>
            <a:br>
              <a:rPr b="0" i="0" lang="en-US" sz="1200" u="none" cap="none" strike="noStrike">
                <a:solidFill>
                  <a:srgbClr val="475569"/>
                </a:solidFill>
                <a:latin typeface="Plus Jakarta Sans"/>
                <a:ea typeface="Plus Jakarta Sans"/>
                <a:cs typeface="Plus Jakarta Sans"/>
                <a:sym typeface="Plus Jakarta Sans"/>
              </a:rPr>
            </a:br>
            <a:r>
              <a:rPr b="0" i="0" lang="en-US" sz="1200" u="none" cap="none" strike="noStrike">
                <a:solidFill>
                  <a:srgbClr val="475569"/>
                </a:solidFill>
                <a:latin typeface="Plus Jakarta Sans"/>
                <a:ea typeface="Plus Jakarta Sans"/>
                <a:cs typeface="Plus Jakarta Sans"/>
                <a:sym typeface="Plus Jakarta Sans"/>
              </a:rPr>
              <a:t>sosial pemuda lintas sektor.</a:t>
            </a:r>
            <a:endParaRPr/>
          </a:p>
        </p:txBody>
      </p:sp>
      <p:sp>
        <p:nvSpPr>
          <p:cNvPr id="124" name="Google Shape;124;p15"/>
          <p:cNvSpPr txBox="1"/>
          <p:nvPr/>
        </p:nvSpPr>
        <p:spPr>
          <a:xfrm>
            <a:off x="3256657" y="3801367"/>
            <a:ext cx="2887860"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dr. Margaret Clarissa</a:t>
            </a:r>
            <a:endParaRPr/>
          </a:p>
        </p:txBody>
      </p:sp>
      <p:sp>
        <p:nvSpPr>
          <p:cNvPr id="125" name="Google Shape;125;p15"/>
          <p:cNvSpPr txBox="1"/>
          <p:nvPr/>
        </p:nvSpPr>
        <p:spPr>
          <a:xfrm>
            <a:off x="3325415" y="4058542"/>
            <a:ext cx="2750343"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Medis &amp; Klinis</a:t>
            </a:r>
            <a:endParaRPr/>
          </a:p>
        </p:txBody>
      </p:sp>
      <p:sp>
        <p:nvSpPr>
          <p:cNvPr id="126" name="Google Shape;126;p15"/>
          <p:cNvSpPr txBox="1"/>
          <p:nvPr/>
        </p:nvSpPr>
        <p:spPr>
          <a:xfrm>
            <a:off x="3325415" y="4325242"/>
            <a:ext cx="2750343" cy="39618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Validasi modul kurikulum kesehatan mental klinis.</a:t>
            </a:r>
            <a:endParaRPr/>
          </a:p>
        </p:txBody>
      </p:sp>
      <p:sp>
        <p:nvSpPr>
          <p:cNvPr id="127" name="Google Shape;127;p15"/>
          <p:cNvSpPr txBox="1"/>
          <p:nvPr/>
        </p:nvSpPr>
        <p:spPr>
          <a:xfrm>
            <a:off x="6047482" y="3801367"/>
            <a:ext cx="28878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Argyta P. &amp; Marsya S.</a:t>
            </a:r>
            <a:r>
              <a:rPr b="1" lang="en-US" sz="1350">
                <a:solidFill>
                  <a:srgbClr val="0F2942"/>
                </a:solidFill>
                <a:latin typeface="Plus Jakarta Sans"/>
                <a:ea typeface="Plus Jakarta Sans"/>
                <a:cs typeface="Plus Jakarta Sans"/>
                <a:sym typeface="Plus Jakarta Sans"/>
              </a:rPr>
              <a:t>&amp; Intan</a:t>
            </a:r>
            <a:endParaRPr/>
          </a:p>
        </p:txBody>
      </p:sp>
      <p:sp>
        <p:nvSpPr>
          <p:cNvPr id="128" name="Google Shape;128;p15"/>
          <p:cNvSpPr txBox="1"/>
          <p:nvPr/>
        </p:nvSpPr>
        <p:spPr>
          <a:xfrm>
            <a:off x="6116240" y="4058542"/>
            <a:ext cx="2750343"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Operasional Program</a:t>
            </a:r>
            <a:endParaRPr/>
          </a:p>
        </p:txBody>
      </p:sp>
      <p:sp>
        <p:nvSpPr>
          <p:cNvPr id="129" name="Google Shape;129;p15"/>
          <p:cNvSpPr txBox="1"/>
          <p:nvPr/>
        </p:nvSpPr>
        <p:spPr>
          <a:xfrm>
            <a:off x="6116240" y="4325242"/>
            <a:ext cx="2750343" cy="39618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Manajemen logistik, relasi sekolah, dan komunitas.</a:t>
            </a:r>
            <a:endParaRPr/>
          </a:p>
        </p:txBody>
      </p:sp>
      <p:sp>
        <p:nvSpPr>
          <p:cNvPr id="130" name="Google Shape;130;p15"/>
          <p:cNvSpPr txBox="1"/>
          <p:nvPr/>
        </p:nvSpPr>
        <p:spPr>
          <a:xfrm>
            <a:off x="8838307" y="3801367"/>
            <a:ext cx="2887860"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Stefanny Diasz, Ed.M</a:t>
            </a:r>
            <a:endParaRPr/>
          </a:p>
        </p:txBody>
      </p:sp>
      <p:sp>
        <p:nvSpPr>
          <p:cNvPr id="131" name="Google Shape;131;p15"/>
          <p:cNvSpPr txBox="1"/>
          <p:nvPr/>
        </p:nvSpPr>
        <p:spPr>
          <a:xfrm>
            <a:off x="8907065" y="4058542"/>
            <a:ext cx="2750343" cy="1714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Mentor &amp; Pembimbing</a:t>
            </a:r>
            <a:endParaRPr/>
          </a:p>
        </p:txBody>
      </p:sp>
      <p:sp>
        <p:nvSpPr>
          <p:cNvPr id="132" name="Google Shape;132;p15"/>
          <p:cNvSpPr txBox="1"/>
          <p:nvPr/>
        </p:nvSpPr>
        <p:spPr>
          <a:xfrm>
            <a:off x="8907065" y="4325242"/>
            <a:ext cx="2750343" cy="39618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ASN Dinas Sosial Maluku dan pemerhati inklusi.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6"/>
          <p:cNvSpPr txBox="1"/>
          <p:nvPr/>
        </p:nvSpPr>
        <p:spPr>
          <a:xfrm>
            <a:off x="609600" y="457200"/>
            <a:ext cx="25458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URGENSI MASALAH · PFMUDA 2026</a:t>
            </a:r>
            <a:endParaRPr/>
          </a:p>
        </p:txBody>
      </p:sp>
      <p:sp>
        <p:nvSpPr>
          <p:cNvPr id="138" name="Google Shape;138;p16"/>
          <p:cNvSpPr txBox="1"/>
          <p:nvPr/>
        </p:nvSpPr>
        <p:spPr>
          <a:xfrm>
            <a:off x="609600" y="704850"/>
            <a:ext cx="5358300" cy="863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Krisis Kesehatan Mental Remaja di </a:t>
            </a:r>
            <a:r>
              <a:rPr b="1" lang="en-US" sz="2550">
                <a:solidFill>
                  <a:srgbClr val="0F2942"/>
                </a:solidFill>
                <a:latin typeface="Plus Jakarta Sans"/>
                <a:ea typeface="Plus Jakarta Sans"/>
                <a:cs typeface="Plus Jakarta Sans"/>
                <a:sym typeface="Plus Jakarta Sans"/>
              </a:rPr>
              <a:t>Ambon dan Minimnya Akses</a:t>
            </a:r>
            <a:endParaRPr/>
          </a:p>
        </p:txBody>
      </p:sp>
      <p:graphicFrame>
        <p:nvGraphicFramePr>
          <p:cNvPr id="139" name="Google Shape;139;p16"/>
          <p:cNvGraphicFramePr/>
          <p:nvPr/>
        </p:nvGraphicFramePr>
        <p:xfrm>
          <a:off x="6188863" y="440254"/>
          <a:ext cx="3000000" cy="3000000"/>
        </p:xfrm>
        <a:graphic>
          <a:graphicData uri="http://schemas.openxmlformats.org/drawingml/2006/table">
            <a:tbl>
              <a:tblPr>
                <a:noFill/>
                <a:tableStyleId>{FBBF654F-CC0D-43A7-8E41-1C757D10D7E0}</a:tableStyleId>
              </a:tblPr>
              <a:tblGrid>
                <a:gridCol w="1943100"/>
                <a:gridCol w="1905000"/>
                <a:gridCol w="1866900"/>
              </a:tblGrid>
              <a:tr h="981075">
                <a:tc>
                  <a:txBody>
                    <a:bodyPr/>
                    <a:lstStyle/>
                    <a:p>
                      <a:pPr indent="0" lvl="0" marL="0" rtl="0" algn="ctr">
                        <a:lnSpc>
                          <a:spcPct val="115000"/>
                        </a:lnSpc>
                        <a:spcBef>
                          <a:spcPts val="0"/>
                        </a:spcBef>
                        <a:spcAft>
                          <a:spcPts val="0"/>
                        </a:spcAft>
                        <a:buNone/>
                      </a:pPr>
                      <a:r>
                        <a:rPr b="1" lang="en-US" sz="3000">
                          <a:solidFill>
                            <a:srgbClr val="12355B"/>
                          </a:solidFill>
                        </a:rPr>
                        <a:t>34,9%</a:t>
                      </a:r>
                      <a:endParaRPr b="1" sz="3000">
                        <a:solidFill>
                          <a:srgbClr val="12355B"/>
                        </a:solidFill>
                      </a:endParaRPr>
                    </a:p>
                    <a:p>
                      <a:pPr indent="0" lvl="0" marL="0" rtl="0" algn="ctr">
                        <a:lnSpc>
                          <a:spcPct val="115000"/>
                        </a:lnSpc>
                        <a:spcBef>
                          <a:spcPts val="200"/>
                        </a:spcBef>
                        <a:spcAft>
                          <a:spcPts val="0"/>
                        </a:spcAft>
                        <a:buNone/>
                      </a:pPr>
                      <a:r>
                        <a:rPr lang="en-US" sz="950">
                          <a:solidFill>
                            <a:srgbClr val="2B3641"/>
                          </a:solidFill>
                        </a:rPr>
                        <a:t>Re</a:t>
                      </a:r>
                      <a:r>
                        <a:rPr lang="en-US" sz="950">
                          <a:solidFill>
                            <a:srgbClr val="2B3641"/>
                          </a:solidFill>
                        </a:rPr>
                        <a:t>maja Indonesia memiliki masalah kesehatan mental</a:t>
                      </a:r>
                      <a:endParaRPr sz="950">
                        <a:solidFill>
                          <a:srgbClr val="2B3641"/>
                        </a:solidFill>
                      </a:endParaRPr>
                    </a:p>
                  </a:txBody>
                  <a:tcPr marT="88900" marB="88900" marR="88900" marL="8890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38100">
                      <a:solidFill>
                        <a:srgbClr val="12355B"/>
                      </a:solidFill>
                      <a:prstDash val="solid"/>
                      <a:round/>
                      <a:headEnd len="sm" w="sm" type="none"/>
                      <a:tailEnd len="sm" w="sm" type="none"/>
                    </a:lnT>
                    <a:solidFill>
                      <a:srgbClr val="EEF2F6"/>
                    </a:solidFill>
                  </a:tcPr>
                </a:tc>
                <a:tc>
                  <a:txBody>
                    <a:bodyPr/>
                    <a:lstStyle/>
                    <a:p>
                      <a:pPr indent="0" lvl="0" marL="0" rtl="0" algn="ctr">
                        <a:lnSpc>
                          <a:spcPct val="115000"/>
                        </a:lnSpc>
                        <a:spcBef>
                          <a:spcPts val="0"/>
                        </a:spcBef>
                        <a:spcAft>
                          <a:spcPts val="0"/>
                        </a:spcAft>
                        <a:buNone/>
                      </a:pPr>
                      <a:r>
                        <a:rPr b="1" lang="en-US" sz="3000">
                          <a:solidFill>
                            <a:srgbClr val="C8102E"/>
                          </a:solidFill>
                        </a:rPr>
                        <a:t>2,6%</a:t>
                      </a:r>
                      <a:endParaRPr b="1" sz="3000">
                        <a:solidFill>
                          <a:srgbClr val="C8102E"/>
                        </a:solidFill>
                      </a:endParaRPr>
                    </a:p>
                    <a:p>
                      <a:pPr indent="0" lvl="0" marL="0" rtl="0" algn="ctr">
                        <a:lnSpc>
                          <a:spcPct val="115000"/>
                        </a:lnSpc>
                        <a:spcBef>
                          <a:spcPts val="200"/>
                        </a:spcBef>
                        <a:spcAft>
                          <a:spcPts val="0"/>
                        </a:spcAft>
                        <a:buNone/>
                      </a:pPr>
                      <a:r>
                        <a:rPr lang="en-US" sz="950">
                          <a:solidFill>
                            <a:srgbClr val="2B3641"/>
                          </a:solidFill>
                        </a:rPr>
                        <a:t>Hanya 2.6% </a:t>
                      </a:r>
                      <a:r>
                        <a:rPr lang="en-US" sz="950">
                          <a:solidFill>
                            <a:srgbClr val="2B3641"/>
                          </a:solidFill>
                        </a:rPr>
                        <a:t>dari yang mengalami gangguan mengakses layanan</a:t>
                      </a:r>
                      <a:endParaRPr sz="950">
                        <a:solidFill>
                          <a:srgbClr val="2B3641"/>
                        </a:solidFill>
                      </a:endParaRPr>
                    </a:p>
                  </a:txBody>
                  <a:tcPr marT="88900" marB="88900" marR="88900" marL="8890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38100">
                      <a:solidFill>
                        <a:srgbClr val="C8102E"/>
                      </a:solidFill>
                      <a:prstDash val="solid"/>
                      <a:round/>
                      <a:headEnd len="sm" w="sm" type="none"/>
                      <a:tailEnd len="sm" w="sm" type="none"/>
                    </a:lnT>
                    <a:solidFill>
                      <a:srgbClr val="EEF2F6"/>
                    </a:solidFill>
                  </a:tcPr>
                </a:tc>
                <a:tc>
                  <a:txBody>
                    <a:bodyPr/>
                    <a:lstStyle/>
                    <a:p>
                      <a:pPr indent="0" lvl="0" marL="0" rtl="0" algn="ctr">
                        <a:lnSpc>
                          <a:spcPct val="115000"/>
                        </a:lnSpc>
                        <a:spcBef>
                          <a:spcPts val="0"/>
                        </a:spcBef>
                        <a:spcAft>
                          <a:spcPts val="0"/>
                        </a:spcAft>
                        <a:buNone/>
                      </a:pPr>
                      <a:r>
                        <a:rPr b="1" lang="en-US" sz="3000">
                          <a:solidFill>
                            <a:srgbClr val="1B8A8F"/>
                          </a:solidFill>
                        </a:rPr>
                        <a:t>±4</a:t>
                      </a:r>
                      <a:endParaRPr b="1" sz="3000">
                        <a:solidFill>
                          <a:srgbClr val="1B8A8F"/>
                        </a:solidFill>
                      </a:endParaRPr>
                    </a:p>
                    <a:p>
                      <a:pPr indent="0" lvl="0" marL="0" rtl="0" algn="ctr">
                        <a:lnSpc>
                          <a:spcPct val="115000"/>
                        </a:lnSpc>
                        <a:spcBef>
                          <a:spcPts val="200"/>
                        </a:spcBef>
                        <a:spcAft>
                          <a:spcPts val="0"/>
                        </a:spcAft>
                        <a:buNone/>
                      </a:pPr>
                      <a:r>
                        <a:rPr lang="en-US" sz="950">
                          <a:solidFill>
                            <a:srgbClr val="2B3641"/>
                          </a:solidFill>
                        </a:rPr>
                        <a:t>RS jiwa di Maluku hanya ada </a:t>
                      </a:r>
                      <a:r>
                        <a:rPr b="1" lang="en-US" sz="950">
                          <a:solidFill>
                            <a:srgbClr val="2B3641"/>
                          </a:solidFill>
                        </a:rPr>
                        <a:t>satu </a:t>
                      </a:r>
                      <a:r>
                        <a:rPr lang="en-US" sz="950">
                          <a:solidFill>
                            <a:srgbClr val="2B3641"/>
                          </a:solidFill>
                        </a:rPr>
                        <a:t>(untuk ±1,8 juta penduduk)</a:t>
                      </a:r>
                      <a:endParaRPr sz="950">
                        <a:solidFill>
                          <a:srgbClr val="2B3641"/>
                        </a:solidFill>
                      </a:endParaRPr>
                    </a:p>
                  </a:txBody>
                  <a:tcPr marT="88900" marB="88900" marR="88900" marL="88900">
                    <a:lnL cap="flat" cmpd="sng" w="19050">
                      <a:solidFill>
                        <a:srgbClr val="FFFFFF"/>
                      </a:solidFill>
                      <a:prstDash val="solid"/>
                      <a:round/>
                      <a:headEnd len="sm" w="sm" type="none"/>
                      <a:tailEnd len="sm" w="sm" type="none"/>
                    </a:lnL>
                    <a:lnR cap="flat" cmpd="sng" w="19050">
                      <a:solidFill>
                        <a:srgbClr val="FFFFFF"/>
                      </a:solidFill>
                      <a:prstDash val="solid"/>
                      <a:round/>
                      <a:headEnd len="sm" w="sm" type="none"/>
                      <a:tailEnd len="sm" w="sm" type="none"/>
                    </a:lnR>
                    <a:lnT cap="flat" cmpd="sng" w="38100">
                      <a:solidFill>
                        <a:srgbClr val="1B8A8F"/>
                      </a:solidFill>
                      <a:prstDash val="solid"/>
                      <a:round/>
                      <a:headEnd len="sm" w="sm" type="none"/>
                      <a:tailEnd len="sm" w="sm" type="none"/>
                    </a:lnT>
                    <a:solidFill>
                      <a:srgbClr val="EEF2F6"/>
                    </a:solidFill>
                  </a:tcPr>
                </a:tc>
              </a:tr>
            </a:tbl>
          </a:graphicData>
        </a:graphic>
      </p:graphicFrame>
      <p:pic>
        <p:nvPicPr>
          <p:cNvPr id="140" name="Google Shape;140;p16"/>
          <p:cNvPicPr preferRelativeResize="0"/>
          <p:nvPr/>
        </p:nvPicPr>
        <p:blipFill>
          <a:blip r:embed="rId3">
            <a:alphaModFix/>
          </a:blip>
          <a:stretch>
            <a:fillRect/>
          </a:stretch>
        </p:blipFill>
        <p:spPr>
          <a:xfrm>
            <a:off x="6405325" y="1868642"/>
            <a:ext cx="5498375" cy="2348625"/>
          </a:xfrm>
          <a:prstGeom prst="rect">
            <a:avLst/>
          </a:prstGeom>
          <a:noFill/>
          <a:ln>
            <a:noFill/>
          </a:ln>
          <a:effectLst>
            <a:outerShdw blurRad="57150" rotWithShape="0" algn="bl" dir="5400000" dist="19050">
              <a:srgbClr val="000000">
                <a:alpha val="50000"/>
              </a:srgbClr>
            </a:outerShdw>
          </a:effectLst>
        </p:spPr>
      </p:pic>
      <p:graphicFrame>
        <p:nvGraphicFramePr>
          <p:cNvPr id="141" name="Google Shape;141;p16"/>
          <p:cNvGraphicFramePr/>
          <p:nvPr/>
        </p:nvGraphicFramePr>
        <p:xfrm>
          <a:off x="474025" y="1704975"/>
          <a:ext cx="3000000" cy="3000000"/>
        </p:xfrm>
        <a:graphic>
          <a:graphicData uri="http://schemas.openxmlformats.org/drawingml/2006/table">
            <a:tbl>
              <a:tblPr>
                <a:noFill/>
                <a:tableStyleId>{FBBF654F-CC0D-43A7-8E41-1C757D10D7E0}</a:tableStyleId>
              </a:tblPr>
              <a:tblGrid>
                <a:gridCol w="1452250"/>
                <a:gridCol w="4041625"/>
              </a:tblGrid>
              <a:tr h="238100">
                <a:tc>
                  <a:txBody>
                    <a:bodyPr/>
                    <a:lstStyle/>
                    <a:p>
                      <a:pPr indent="0" lvl="0" marL="0" rtl="0" algn="l">
                        <a:lnSpc>
                          <a:spcPct val="115000"/>
                        </a:lnSpc>
                        <a:spcBef>
                          <a:spcPts val="0"/>
                        </a:spcBef>
                        <a:spcAft>
                          <a:spcPts val="0"/>
                        </a:spcAft>
                        <a:buNone/>
                      </a:pPr>
                      <a:r>
                        <a:rPr b="1" lang="en-US" sz="1000">
                          <a:solidFill>
                            <a:srgbClr val="FFFFFF"/>
                          </a:solidFill>
                          <a:latin typeface="Plus Jakarta Sans"/>
                          <a:ea typeface="Plus Jakarta Sans"/>
                          <a:cs typeface="Plus Jakarta Sans"/>
                          <a:sym typeface="Plus Jakarta Sans"/>
                        </a:rPr>
                        <a:t>Aspek</a:t>
                      </a:r>
                      <a:endParaRPr b="1" sz="1000">
                        <a:solidFill>
                          <a:srgbClr val="FFFFFF"/>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solidFill>
                      <a:srgbClr val="12355B"/>
                    </a:solidFill>
                  </a:tcPr>
                </a:tc>
                <a:tc>
                  <a:txBody>
                    <a:bodyPr/>
                    <a:lstStyle/>
                    <a:p>
                      <a:pPr indent="0" lvl="0" marL="0" rtl="0" algn="l">
                        <a:lnSpc>
                          <a:spcPct val="115000"/>
                        </a:lnSpc>
                        <a:spcBef>
                          <a:spcPts val="0"/>
                        </a:spcBef>
                        <a:spcAft>
                          <a:spcPts val="0"/>
                        </a:spcAft>
                        <a:buNone/>
                      </a:pPr>
                      <a:r>
                        <a:rPr b="1" lang="en-US" sz="1000">
                          <a:solidFill>
                            <a:srgbClr val="FFFFFF"/>
                          </a:solidFill>
                          <a:latin typeface="Plus Jakarta Sans"/>
                          <a:ea typeface="Plus Jakarta Sans"/>
                          <a:cs typeface="Plus Jakarta Sans"/>
                          <a:sym typeface="Plus Jakarta Sans"/>
                        </a:rPr>
                        <a:t>Temuan</a:t>
                      </a:r>
                      <a:endParaRPr b="1" sz="1000">
                        <a:solidFill>
                          <a:srgbClr val="FFFFFF"/>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solidFill>
                      <a:srgbClr val="12355B"/>
                    </a:solidFill>
                  </a:tcPr>
                </a:tc>
              </a:tr>
              <a:tr h="703225">
                <a:tc>
                  <a:txBody>
                    <a:bodyPr/>
                    <a:lstStyle/>
                    <a:p>
                      <a:pPr indent="0" lvl="0" marL="0" rtl="0" algn="l">
                        <a:lnSpc>
                          <a:spcPct val="115000"/>
                        </a:lnSpc>
                        <a:spcBef>
                          <a:spcPts val="0"/>
                        </a:spcBef>
                        <a:spcAft>
                          <a:spcPts val="0"/>
                        </a:spcAft>
                        <a:buNone/>
                      </a:pPr>
                      <a:r>
                        <a:rPr b="1" lang="en-US" sz="1000">
                          <a:solidFill>
                            <a:srgbClr val="222B35"/>
                          </a:solidFill>
                          <a:latin typeface="Plus Jakarta Sans"/>
                          <a:ea typeface="Plus Jakarta Sans"/>
                          <a:cs typeface="Plus Jakarta Sans"/>
                          <a:sym typeface="Plus Jakarta Sans"/>
                        </a:rPr>
                        <a:t>Layanan terbatas</a:t>
                      </a:r>
                      <a:endParaRPr b="1" sz="1000">
                        <a:solidFill>
                          <a:srgbClr val="222B35"/>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Plus Jakarta Sans"/>
                          <a:ea typeface="Plus Jakarta Sans"/>
                          <a:cs typeface="Plus Jakarta Sans"/>
                          <a:sym typeface="Plus Jakarta Sans"/>
                        </a:rPr>
                        <a:t>Tercatat per Maret 2023, </a:t>
                      </a:r>
                      <a:r>
                        <a:rPr lang="en-US" sz="1000">
                          <a:latin typeface="Plus Jakarta Sans"/>
                          <a:ea typeface="Plus Jakarta Sans"/>
                          <a:cs typeface="Plus Jakarta Sans"/>
                          <a:sym typeface="Plus Jakarta Sans"/>
                        </a:rPr>
                        <a:t> hanya empat dokter spesialis jiwa tetap yang praktik di RSKD Maluku, satu mendekati pensiun. Di mana RSKD Ambon diketahui hanya satu-satunya rumah sakit yang spesialis dalam menangani gangguan jiwa di Maluku.</a:t>
                      </a:r>
                      <a:r>
                        <a:rPr lang="en-US" sz="1100">
                          <a:latin typeface="Plus Jakarta Sans"/>
                          <a:ea typeface="Plus Jakarta Sans"/>
                          <a:cs typeface="Plus Jakarta Sans"/>
                          <a:sym typeface="Plus Jakarta Sans"/>
                        </a:rPr>
                        <a:t>[</a:t>
                      </a:r>
                      <a:r>
                        <a:rPr lang="en-US" sz="1100">
                          <a:latin typeface="Plus Jakarta Sans"/>
                          <a:ea typeface="Plus Jakarta Sans"/>
                          <a:cs typeface="Plus Jakarta Sans"/>
                          <a:sym typeface="Plus Jakarta Sans"/>
                        </a:rPr>
                        <a:t>1][2]</a:t>
                      </a:r>
                      <a:endParaRPr sz="1100">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r>
              <a:tr h="553725">
                <a:tc>
                  <a:txBody>
                    <a:bodyPr/>
                    <a:lstStyle/>
                    <a:p>
                      <a:pPr indent="0" lvl="0" marL="0" rtl="0" algn="l">
                        <a:lnSpc>
                          <a:spcPct val="115000"/>
                        </a:lnSpc>
                        <a:spcBef>
                          <a:spcPts val="0"/>
                        </a:spcBef>
                        <a:spcAft>
                          <a:spcPts val="0"/>
                        </a:spcAft>
                        <a:buNone/>
                      </a:pPr>
                      <a:r>
                        <a:rPr b="1" lang="en-US" sz="1000">
                          <a:solidFill>
                            <a:srgbClr val="222B35"/>
                          </a:solidFill>
                          <a:latin typeface="Plus Jakarta Sans"/>
                          <a:ea typeface="Plus Jakarta Sans"/>
                          <a:cs typeface="Plus Jakarta Sans"/>
                          <a:sym typeface="Plus Jakarta Sans"/>
                        </a:rPr>
                        <a:t>Tantangan geografis</a:t>
                      </a:r>
                      <a:endParaRPr b="1" sz="1000">
                        <a:solidFill>
                          <a:srgbClr val="222B35"/>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Plus Jakarta Sans"/>
                          <a:ea typeface="Plus Jakarta Sans"/>
                          <a:cs typeface="Plus Jakarta Sans"/>
                          <a:sym typeface="Plus Jakarta Sans"/>
                        </a:rPr>
                        <a:t>Maluku adalah daerah kepulauan dengan aksesibilitas antarwilayah yang sangat terbatas, sehingga layanan profesional sulit menjangkau semua sekolah.</a:t>
                      </a:r>
                      <a:r>
                        <a:rPr lang="en-US" sz="1100">
                          <a:latin typeface="Plus Jakarta Sans"/>
                          <a:ea typeface="Plus Jakarta Sans"/>
                          <a:cs typeface="Plus Jakarta Sans"/>
                          <a:sym typeface="Plus Jakarta Sans"/>
                        </a:rPr>
                        <a:t>[3]</a:t>
                      </a:r>
                      <a:endParaRPr sz="1100">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r>
              <a:tr h="553725">
                <a:tc>
                  <a:txBody>
                    <a:bodyPr/>
                    <a:lstStyle/>
                    <a:p>
                      <a:pPr indent="0" lvl="0" marL="0" rtl="0" algn="l">
                        <a:lnSpc>
                          <a:spcPct val="115000"/>
                        </a:lnSpc>
                        <a:spcBef>
                          <a:spcPts val="0"/>
                        </a:spcBef>
                        <a:spcAft>
                          <a:spcPts val="0"/>
                        </a:spcAft>
                        <a:buNone/>
                      </a:pPr>
                      <a:r>
                        <a:rPr b="1" lang="en-US" sz="1000">
                          <a:solidFill>
                            <a:srgbClr val="222B35"/>
                          </a:solidFill>
                          <a:latin typeface="Plus Jakarta Sans"/>
                          <a:ea typeface="Plus Jakarta Sans"/>
                          <a:cs typeface="Plus Jakarta Sans"/>
                          <a:sym typeface="Plus Jakarta Sans"/>
                        </a:rPr>
                        <a:t>Literasi rendah</a:t>
                      </a:r>
                      <a:endParaRPr b="1" sz="1000">
                        <a:solidFill>
                          <a:srgbClr val="222B35"/>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Plus Jakarta Sans"/>
                          <a:ea typeface="Plus Jakarta Sans"/>
                          <a:cs typeface="Plus Jakarta Sans"/>
                          <a:sym typeface="Plus Jakarta Sans"/>
                        </a:rPr>
                        <a:t>Kegiatan pengabdian di SMP Pertiwi Ambon mengidentifikasi kurangnya pemahaman siswa tentang pentingnya kesehatan mental sebagai masalah utama.</a:t>
                      </a:r>
                      <a:r>
                        <a:rPr lang="en-US" sz="1100">
                          <a:latin typeface="Plus Jakarta Sans"/>
                          <a:ea typeface="Plus Jakarta Sans"/>
                          <a:cs typeface="Plus Jakarta Sans"/>
                          <a:sym typeface="Plus Jakarta Sans"/>
                        </a:rPr>
                        <a:t>[4]</a:t>
                      </a:r>
                      <a:endParaRPr sz="1100">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r>
              <a:tr h="404225">
                <a:tc>
                  <a:txBody>
                    <a:bodyPr/>
                    <a:lstStyle/>
                    <a:p>
                      <a:pPr indent="0" lvl="0" marL="0" rtl="0" algn="l">
                        <a:lnSpc>
                          <a:spcPct val="115000"/>
                        </a:lnSpc>
                        <a:spcBef>
                          <a:spcPts val="0"/>
                        </a:spcBef>
                        <a:spcAft>
                          <a:spcPts val="0"/>
                        </a:spcAft>
                        <a:buNone/>
                      </a:pPr>
                      <a:r>
                        <a:rPr b="1" lang="en-US" sz="1000">
                          <a:solidFill>
                            <a:srgbClr val="222B35"/>
                          </a:solidFill>
                          <a:latin typeface="Plus Jakarta Sans"/>
                          <a:ea typeface="Plus Jakarta Sans"/>
                          <a:cs typeface="Plus Jakarta Sans"/>
                          <a:sym typeface="Plus Jakarta Sans"/>
                        </a:rPr>
                        <a:t>Pemicu media sosial</a:t>
                      </a:r>
                      <a:endParaRPr b="1" sz="1000">
                        <a:solidFill>
                          <a:srgbClr val="222B35"/>
                        </a:solidFill>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Plus Jakarta Sans"/>
                          <a:ea typeface="Plus Jakarta Sans"/>
                          <a:cs typeface="Plus Jakarta Sans"/>
                          <a:sym typeface="Plus Jakarta Sans"/>
                        </a:rPr>
                        <a:t>Ada penelitian tentang dampak Facebook dan TikTok pada kesehatan mental siswa kelas IX SMP Negeri 9 Ambon. </a:t>
                      </a:r>
                      <a:r>
                        <a:rPr lang="en-US" sz="1100">
                          <a:latin typeface="Plus Jakarta Sans"/>
                          <a:ea typeface="Plus Jakarta Sans"/>
                          <a:cs typeface="Plus Jakarta Sans"/>
                          <a:sym typeface="Plus Jakarta Sans"/>
                        </a:rPr>
                        <a:t>[5]</a:t>
                      </a:r>
                      <a:endParaRPr sz="1100">
                        <a:latin typeface="Plus Jakarta Sans"/>
                        <a:ea typeface="Plus Jakarta Sans"/>
                        <a:cs typeface="Plus Jakarta Sans"/>
                        <a:sym typeface="Plus Jakarta Sans"/>
                      </a:endParaRPr>
                    </a:p>
                  </a:txBody>
                  <a:tcPr marT="50800" marB="50800" marR="76200" marL="76200">
                    <a:lnL cap="flat" cmpd="sng" w="12700">
                      <a:solidFill>
                        <a:srgbClr val="C9D1D9"/>
                      </a:solidFill>
                      <a:prstDash val="solid"/>
                      <a:round/>
                      <a:headEnd len="sm" w="sm" type="none"/>
                      <a:tailEnd len="sm" w="sm" type="none"/>
                    </a:lnL>
                    <a:lnR cap="flat" cmpd="sng" w="12700">
                      <a:solidFill>
                        <a:srgbClr val="C9D1D9"/>
                      </a:solidFill>
                      <a:prstDash val="solid"/>
                      <a:round/>
                      <a:headEnd len="sm" w="sm" type="none"/>
                      <a:tailEnd len="sm" w="sm" type="none"/>
                    </a:lnR>
                    <a:lnT cap="flat" cmpd="sng" w="12700">
                      <a:solidFill>
                        <a:srgbClr val="C9D1D9"/>
                      </a:solidFill>
                      <a:prstDash val="solid"/>
                      <a:round/>
                      <a:headEnd len="sm" w="sm" type="none"/>
                      <a:tailEnd len="sm" w="sm" type="none"/>
                    </a:lnT>
                    <a:lnB cap="flat" cmpd="sng" w="12700">
                      <a:solidFill>
                        <a:srgbClr val="C9D1D9"/>
                      </a:solidFill>
                      <a:prstDash val="solid"/>
                      <a:round/>
                      <a:headEnd len="sm" w="sm" type="none"/>
                      <a:tailEnd len="sm" w="sm" type="none"/>
                    </a:lnB>
                  </a:tcPr>
                </a:tc>
              </a:tr>
            </a:tbl>
          </a:graphicData>
        </a:graphic>
      </p:graphicFrame>
      <p:sp>
        <p:nvSpPr>
          <p:cNvPr id="142" name="Google Shape;142;p16"/>
          <p:cNvSpPr txBox="1"/>
          <p:nvPr/>
        </p:nvSpPr>
        <p:spPr>
          <a:xfrm>
            <a:off x="6297013" y="4429650"/>
            <a:ext cx="5715000" cy="2170200"/>
          </a:xfrm>
          <a:prstGeom prst="rect">
            <a:avLst/>
          </a:prstGeom>
          <a:noFill/>
          <a:ln>
            <a:noFill/>
          </a:ln>
        </p:spPr>
        <p:txBody>
          <a:bodyPr anchorCtr="0" anchor="t" bIns="91425" lIns="91425" spcFirstLastPara="1" rIns="91425" wrap="square" tIns="91425">
            <a:spAutoFit/>
          </a:bodyPr>
          <a:lstStyle/>
          <a:p>
            <a:pPr indent="0" lvl="0" marL="0" rtl="0" algn="just">
              <a:lnSpc>
                <a:spcPct val="125000"/>
              </a:lnSpc>
              <a:spcBef>
                <a:spcPts val="0"/>
              </a:spcBef>
              <a:spcAft>
                <a:spcPts val="0"/>
              </a:spcAft>
              <a:buNone/>
            </a:pPr>
            <a:r>
              <a:rPr lang="en-US">
                <a:latin typeface="Plus Jakarta Sans"/>
                <a:ea typeface="Plus Jakarta Sans"/>
                <a:cs typeface="Plus Jakarta Sans"/>
                <a:sym typeface="Plus Jakarta Sans"/>
              </a:rPr>
              <a:t>Keterbatasan b</a:t>
            </a:r>
            <a:r>
              <a:rPr lang="en-US">
                <a:latin typeface="Plus Jakarta Sans"/>
                <a:ea typeface="Plus Jakarta Sans"/>
                <a:cs typeface="Plus Jakarta Sans"/>
                <a:sym typeface="Plus Jakarta Sans"/>
              </a:rPr>
              <a:t>antuan profesional serta rendahnya literasi kesehatan mental, berakibat sulitnya akses profesional menjangkau semua siswa di Ambon. Karena itu, dibutuhkan guru dan teman sebaya (sebagai individu yang dekat dengan remaja) yang mampu memberikan pertolongan pertama (MHFA). </a:t>
            </a:r>
            <a:endParaRPr>
              <a:latin typeface="Plus Jakarta Sans"/>
              <a:ea typeface="Plus Jakarta Sans"/>
              <a:cs typeface="Plus Jakarta Sans"/>
              <a:sym typeface="Plus Jakarta Sans"/>
            </a:endParaRPr>
          </a:p>
          <a:p>
            <a:pPr indent="0" lvl="0" marL="0" rtl="0" algn="just">
              <a:lnSpc>
                <a:spcPct val="125000"/>
              </a:lnSpc>
              <a:spcBef>
                <a:spcPts val="600"/>
              </a:spcBef>
              <a:spcAft>
                <a:spcPts val="0"/>
              </a:spcAft>
              <a:buNone/>
            </a:pPr>
            <a:r>
              <a:rPr lang="en-US">
                <a:solidFill>
                  <a:schemeClr val="dk1"/>
                </a:solidFill>
                <a:latin typeface="Plus Jakarta Sans"/>
                <a:ea typeface="Plus Jakarta Sans"/>
                <a:cs typeface="Plus Jakarta Sans"/>
                <a:sym typeface="Plus Jakarta Sans"/>
              </a:rPr>
              <a:t>Ini menjadi jembatan ke solusi yang kami tawarkan, </a:t>
            </a:r>
            <a:endParaRPr>
              <a:solidFill>
                <a:schemeClr val="dk1"/>
              </a:solidFill>
              <a:latin typeface="Plus Jakarta Sans"/>
              <a:ea typeface="Plus Jakarta Sans"/>
              <a:cs typeface="Plus Jakarta Sans"/>
              <a:sym typeface="Plus Jakarta Sans"/>
            </a:endParaRPr>
          </a:p>
          <a:p>
            <a:pPr indent="0" lvl="0" marL="0" rtl="0" algn="just">
              <a:lnSpc>
                <a:spcPct val="125000"/>
              </a:lnSpc>
              <a:spcBef>
                <a:spcPts val="600"/>
              </a:spcBef>
              <a:spcAft>
                <a:spcPts val="600"/>
              </a:spcAft>
              <a:buNone/>
            </a:pPr>
            <a:r>
              <a:rPr b="1" lang="en-US">
                <a:solidFill>
                  <a:schemeClr val="dk1"/>
                </a:solidFill>
                <a:latin typeface="Plus Jakarta Sans"/>
                <a:ea typeface="Plus Jakarta Sans"/>
                <a:cs typeface="Plus Jakarta Sans"/>
                <a:sym typeface="Plus Jakarta Sans"/>
              </a:rPr>
              <a:t>ADA Baku Jaga: Sekolah Inklusif Adaptif!</a:t>
            </a:r>
            <a:endParaRPr b="1">
              <a:solidFill>
                <a:schemeClr val="dk1"/>
              </a:solidFill>
              <a:latin typeface="Plus Jakarta Sans"/>
              <a:ea typeface="Plus Jakarta Sans"/>
              <a:cs typeface="Plus Jakarta Sans"/>
              <a:sym typeface="Plus Jakarta Sans"/>
            </a:endParaRPr>
          </a:p>
        </p:txBody>
      </p:sp>
      <p:sp>
        <p:nvSpPr>
          <p:cNvPr id="143" name="Google Shape;143;p16"/>
          <p:cNvSpPr txBox="1"/>
          <p:nvPr/>
        </p:nvSpPr>
        <p:spPr>
          <a:xfrm>
            <a:off x="474025" y="4654750"/>
            <a:ext cx="18723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500">
                <a:solidFill>
                  <a:schemeClr val="dk1"/>
                </a:solidFill>
              </a:rPr>
              <a:t>Referensi</a:t>
            </a:r>
            <a:endParaRPr b="1" sz="1500">
              <a:solidFill>
                <a:schemeClr val="dk1"/>
              </a:solidFill>
            </a:endParaRPr>
          </a:p>
        </p:txBody>
      </p:sp>
      <p:pic>
        <p:nvPicPr>
          <p:cNvPr id="144" name="Google Shape;144;p16" title="qrcode_408475405_2cf0435335a1fef961f9bbe383f3ed83 (1).png"/>
          <p:cNvPicPr preferRelativeResize="0"/>
          <p:nvPr/>
        </p:nvPicPr>
        <p:blipFill rotWithShape="1">
          <a:blip r:embed="rId4">
            <a:alphaModFix/>
          </a:blip>
          <a:srcRect b="5848" l="0" r="0" t="6471"/>
          <a:stretch/>
        </p:blipFill>
        <p:spPr>
          <a:xfrm>
            <a:off x="563438" y="5109725"/>
            <a:ext cx="1693475" cy="13391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p17"/>
          <p:cNvSpPr/>
          <p:nvPr/>
        </p:nvSpPr>
        <p:spPr>
          <a:xfrm>
            <a:off x="609638" y="1378300"/>
            <a:ext cx="3505200" cy="3694500"/>
          </a:xfrm>
          <a:prstGeom prst="roundRect">
            <a:avLst>
              <a:gd fmla="val 6211"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 name="Google Shape;150;p17"/>
          <p:cNvSpPr/>
          <p:nvPr/>
        </p:nvSpPr>
        <p:spPr>
          <a:xfrm>
            <a:off x="4343438" y="1378302"/>
            <a:ext cx="3505200" cy="3694500"/>
          </a:xfrm>
          <a:prstGeom prst="roundRect">
            <a:avLst>
              <a:gd fmla="val 6211"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17"/>
          <p:cNvSpPr/>
          <p:nvPr/>
        </p:nvSpPr>
        <p:spPr>
          <a:xfrm>
            <a:off x="8077238" y="1378300"/>
            <a:ext cx="3505200" cy="3694500"/>
          </a:xfrm>
          <a:prstGeom prst="roundRect">
            <a:avLst>
              <a:gd fmla="val 5587"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52" name="Google Shape;152;p17"/>
          <p:cNvPicPr preferRelativeResize="0"/>
          <p:nvPr/>
        </p:nvPicPr>
        <p:blipFill rotWithShape="1">
          <a:blip r:embed="rId3">
            <a:alphaModFix/>
          </a:blip>
          <a:srcRect b="0" l="0" r="0" t="0"/>
          <a:stretch/>
        </p:blipFill>
        <p:spPr>
          <a:xfrm>
            <a:off x="847763" y="1692622"/>
            <a:ext cx="495300" cy="495300"/>
          </a:xfrm>
          <a:prstGeom prst="rect">
            <a:avLst/>
          </a:prstGeom>
          <a:noFill/>
          <a:ln>
            <a:noFill/>
          </a:ln>
        </p:spPr>
      </p:pic>
      <p:pic>
        <p:nvPicPr>
          <p:cNvPr descr="image.png" id="153" name="Google Shape;153;p17"/>
          <p:cNvPicPr preferRelativeResize="0"/>
          <p:nvPr/>
        </p:nvPicPr>
        <p:blipFill rotWithShape="1">
          <a:blip r:embed="rId4">
            <a:alphaModFix/>
          </a:blip>
          <a:srcRect b="0" l="0" r="0" t="0"/>
          <a:stretch/>
        </p:blipFill>
        <p:spPr>
          <a:xfrm>
            <a:off x="4581563" y="1692622"/>
            <a:ext cx="495300" cy="495300"/>
          </a:xfrm>
          <a:prstGeom prst="rect">
            <a:avLst/>
          </a:prstGeom>
          <a:noFill/>
          <a:ln>
            <a:noFill/>
          </a:ln>
        </p:spPr>
      </p:pic>
      <p:pic>
        <p:nvPicPr>
          <p:cNvPr descr="image.png" id="154" name="Google Shape;154;p17"/>
          <p:cNvPicPr preferRelativeResize="0"/>
          <p:nvPr/>
        </p:nvPicPr>
        <p:blipFill rotWithShape="1">
          <a:blip r:embed="rId5">
            <a:alphaModFix/>
          </a:blip>
          <a:srcRect b="0" l="0" r="0" t="0"/>
          <a:stretch/>
        </p:blipFill>
        <p:spPr>
          <a:xfrm>
            <a:off x="8315363" y="1572666"/>
            <a:ext cx="495300" cy="495300"/>
          </a:xfrm>
          <a:prstGeom prst="rect">
            <a:avLst/>
          </a:prstGeom>
          <a:noFill/>
          <a:ln>
            <a:noFill/>
          </a:ln>
        </p:spPr>
      </p:pic>
      <p:pic>
        <p:nvPicPr>
          <p:cNvPr descr="image.png" id="155" name="Google Shape;155;p17"/>
          <p:cNvPicPr preferRelativeResize="0"/>
          <p:nvPr/>
        </p:nvPicPr>
        <p:blipFill rotWithShape="1">
          <a:blip r:embed="rId6">
            <a:alphaModFix/>
          </a:blip>
          <a:srcRect b="0" l="0" r="0" t="0"/>
          <a:stretch/>
        </p:blipFill>
        <p:spPr>
          <a:xfrm>
            <a:off x="952538" y="1825972"/>
            <a:ext cx="285750" cy="228600"/>
          </a:xfrm>
          <a:prstGeom prst="rect">
            <a:avLst/>
          </a:prstGeom>
          <a:noFill/>
          <a:ln>
            <a:noFill/>
          </a:ln>
        </p:spPr>
      </p:pic>
      <p:pic>
        <p:nvPicPr>
          <p:cNvPr descr="image.png" id="156" name="Google Shape;156;p17"/>
          <p:cNvPicPr preferRelativeResize="0"/>
          <p:nvPr/>
        </p:nvPicPr>
        <p:blipFill rotWithShape="1">
          <a:blip r:embed="rId7">
            <a:alphaModFix/>
          </a:blip>
          <a:srcRect b="0" l="0" r="0" t="0"/>
          <a:stretch/>
        </p:blipFill>
        <p:spPr>
          <a:xfrm>
            <a:off x="4686338" y="1825972"/>
            <a:ext cx="285750" cy="228600"/>
          </a:xfrm>
          <a:prstGeom prst="rect">
            <a:avLst/>
          </a:prstGeom>
          <a:noFill/>
          <a:ln>
            <a:noFill/>
          </a:ln>
        </p:spPr>
      </p:pic>
      <p:pic>
        <p:nvPicPr>
          <p:cNvPr descr="image.png" id="157" name="Google Shape;157;p17"/>
          <p:cNvPicPr preferRelativeResize="0"/>
          <p:nvPr/>
        </p:nvPicPr>
        <p:blipFill rotWithShape="1">
          <a:blip r:embed="rId8">
            <a:alphaModFix/>
          </a:blip>
          <a:srcRect b="0" l="0" r="0" t="0"/>
          <a:stretch/>
        </p:blipFill>
        <p:spPr>
          <a:xfrm>
            <a:off x="8420138" y="1706016"/>
            <a:ext cx="285750" cy="228600"/>
          </a:xfrm>
          <a:prstGeom prst="rect">
            <a:avLst/>
          </a:prstGeom>
          <a:noFill/>
          <a:ln>
            <a:noFill/>
          </a:ln>
        </p:spPr>
      </p:pic>
      <p:sp>
        <p:nvSpPr>
          <p:cNvPr id="158" name="Google Shape;158;p17"/>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SOLUSI BERKELANJUTAN</a:t>
            </a:r>
            <a:endParaRPr/>
          </a:p>
        </p:txBody>
      </p:sp>
      <p:sp>
        <p:nvSpPr>
          <p:cNvPr id="159" name="Google Shape;159;p17"/>
          <p:cNvSpPr txBox="1"/>
          <p:nvPr/>
        </p:nvSpPr>
        <p:spPr>
          <a:xfrm>
            <a:off x="609600" y="704850"/>
            <a:ext cx="11582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Pendekatan </a:t>
            </a:r>
            <a:r>
              <a:rPr b="1" i="1" lang="en-US" sz="2550">
                <a:solidFill>
                  <a:srgbClr val="0F2942"/>
                </a:solidFill>
                <a:latin typeface="Plus Jakarta Sans"/>
                <a:ea typeface="Plus Jakarta Sans"/>
                <a:cs typeface="Plus Jakarta Sans"/>
                <a:sym typeface="Plus Jakarta Sans"/>
              </a:rPr>
              <a:t>Hybrid</a:t>
            </a:r>
            <a:r>
              <a:rPr b="1" i="0" lang="en-US" sz="2550" u="none" cap="none" strike="noStrike">
                <a:solidFill>
                  <a:srgbClr val="0F2942"/>
                </a:solidFill>
                <a:latin typeface="Plus Jakarta Sans"/>
                <a:ea typeface="Plus Jakarta Sans"/>
                <a:cs typeface="Plus Jakarta Sans"/>
                <a:sym typeface="Plus Jakarta Sans"/>
              </a:rPr>
              <a:t> ADA Baku Jaga</a:t>
            </a:r>
            <a:endParaRPr/>
          </a:p>
        </p:txBody>
      </p:sp>
      <p:sp>
        <p:nvSpPr>
          <p:cNvPr id="160" name="Google Shape;160;p17"/>
          <p:cNvSpPr txBox="1"/>
          <p:nvPr/>
        </p:nvSpPr>
        <p:spPr>
          <a:xfrm>
            <a:off x="847763" y="2378422"/>
            <a:ext cx="3975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ADA MHFA Kit Fisik</a:t>
            </a:r>
            <a:endParaRPr/>
          </a:p>
        </p:txBody>
      </p:sp>
      <p:sp>
        <p:nvSpPr>
          <p:cNvPr id="161" name="Google Shape;161;p17"/>
          <p:cNvSpPr txBox="1"/>
          <p:nvPr/>
        </p:nvSpPr>
        <p:spPr>
          <a:xfrm>
            <a:off x="847763" y="2730847"/>
            <a:ext cx="3124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Kartu krisis instruksional, jurnal pelacak emosi, dan sensory ball.</a:t>
            </a:r>
            <a:endParaRPr/>
          </a:p>
        </p:txBody>
      </p:sp>
      <p:sp>
        <p:nvSpPr>
          <p:cNvPr id="162" name="Google Shape;162;p17"/>
          <p:cNvSpPr txBox="1"/>
          <p:nvPr/>
        </p:nvSpPr>
        <p:spPr>
          <a:xfrm>
            <a:off x="4581563" y="2378425"/>
            <a:ext cx="25464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Web &amp; </a:t>
            </a:r>
            <a:r>
              <a:rPr b="1" i="0" lang="en-US" sz="1500" u="none" cap="none" strike="noStrike">
                <a:solidFill>
                  <a:srgbClr val="0F2942"/>
                </a:solidFill>
                <a:latin typeface="Plus Jakarta Sans"/>
                <a:ea typeface="Plus Jakarta Sans"/>
                <a:cs typeface="Plus Jakarta Sans"/>
                <a:sym typeface="Plus Jakarta Sans"/>
              </a:rPr>
              <a:t>Panduan</a:t>
            </a:r>
            <a:r>
              <a:rPr b="1" i="0" lang="en-US" sz="1500" u="none" cap="none" strike="noStrike">
                <a:solidFill>
                  <a:srgbClr val="0F2942"/>
                </a:solidFill>
                <a:latin typeface="Plus Jakarta Sans"/>
                <a:ea typeface="Plus Jakarta Sans"/>
                <a:cs typeface="Plus Jakarta Sans"/>
                <a:sym typeface="Plus Jakarta Sans"/>
              </a:rPr>
              <a:t> Digital</a:t>
            </a:r>
            <a:endParaRPr/>
          </a:p>
        </p:txBody>
      </p:sp>
      <p:sp>
        <p:nvSpPr>
          <p:cNvPr id="163" name="Google Shape;163;p17"/>
          <p:cNvSpPr txBox="1"/>
          <p:nvPr/>
        </p:nvSpPr>
        <p:spPr>
          <a:xfrm>
            <a:off x="4567275" y="2717618"/>
            <a:ext cx="3124200" cy="22431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Direktori rujukan bantuan mental serta modul kurikulum praktis guru</a:t>
            </a:r>
            <a:r>
              <a:rPr lang="en-US" sz="1350">
                <a:solidFill>
                  <a:srgbClr val="475569"/>
                </a:solidFill>
                <a:latin typeface="Plus Jakarta Sans"/>
                <a:ea typeface="Plus Jakarta Sans"/>
                <a:cs typeface="Plus Jakarta Sans"/>
                <a:sym typeface="Plus Jakarta Sans"/>
              </a:rPr>
              <a:t>. Ke</a:t>
            </a:r>
            <a:r>
              <a:rPr lang="en-US" sz="1350">
                <a:solidFill>
                  <a:srgbClr val="475569"/>
                </a:solidFill>
                <a:latin typeface="Plus Jakarta Sans"/>
                <a:ea typeface="Plus Jakarta Sans"/>
                <a:cs typeface="Plus Jakarta Sans"/>
                <a:sym typeface="Plus Jakarta Sans"/>
              </a:rPr>
              <a:t>depannya. T</a:t>
            </a:r>
            <a:r>
              <a:rPr lang="en-US" sz="1350">
                <a:solidFill>
                  <a:srgbClr val="475569"/>
                </a:solidFill>
                <a:latin typeface="Plus Jakarta Sans"/>
                <a:ea typeface="Plus Jakarta Sans"/>
                <a:cs typeface="Plus Jakarta Sans"/>
                <a:sym typeface="Plus Jakarta Sans"/>
              </a:rPr>
              <a:t>idak berhenti hanya untuk sekolah percontohan kami di Ambon saja, tapi web ini akan </a:t>
            </a:r>
            <a:r>
              <a:rPr lang="en-US" sz="1350">
                <a:solidFill>
                  <a:srgbClr val="475569"/>
                </a:solidFill>
                <a:latin typeface="Plus Jakarta Sans"/>
                <a:ea typeface="Plus Jakarta Sans"/>
                <a:cs typeface="Plus Jakarta Sans"/>
                <a:sym typeface="Plus Jakarta Sans"/>
              </a:rPr>
              <a:t>diakses</a:t>
            </a:r>
            <a:r>
              <a:rPr lang="en-US" sz="1350">
                <a:solidFill>
                  <a:srgbClr val="475569"/>
                </a:solidFill>
                <a:latin typeface="Plus Jakarta Sans"/>
                <a:ea typeface="Plus Jakarta Sans"/>
                <a:cs typeface="Plus Jakarta Sans"/>
                <a:sym typeface="Plus Jakarta Sans"/>
              </a:rPr>
              <a:t> oleh  seluruh sasaran sekolah percontohan kami yang lain  kedepannya di daerah 3T.</a:t>
            </a:r>
            <a:endParaRPr/>
          </a:p>
        </p:txBody>
      </p:sp>
      <p:sp>
        <p:nvSpPr>
          <p:cNvPr id="164" name="Google Shape;164;p17"/>
          <p:cNvSpPr txBox="1"/>
          <p:nvPr/>
        </p:nvSpPr>
        <p:spPr>
          <a:xfrm>
            <a:off x="8315363" y="2258466"/>
            <a:ext cx="3876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Program ToT Guru</a:t>
            </a:r>
            <a:endParaRPr/>
          </a:p>
        </p:txBody>
      </p:sp>
      <p:sp>
        <p:nvSpPr>
          <p:cNvPr id="165" name="Google Shape;165;p17"/>
          <p:cNvSpPr txBox="1"/>
          <p:nvPr/>
        </p:nvSpPr>
        <p:spPr>
          <a:xfrm>
            <a:off x="8315363" y="2610891"/>
            <a:ext cx="3124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Melatih 25 guru fasilitator untuk membentuk jejaring konseling sebaya.</a:t>
            </a:r>
            <a:endParaRPr/>
          </a:p>
        </p:txBody>
      </p:sp>
      <p:sp>
        <p:nvSpPr>
          <p:cNvPr id="166" name="Google Shape;166;p17"/>
          <p:cNvSpPr txBox="1"/>
          <p:nvPr/>
        </p:nvSpPr>
        <p:spPr>
          <a:xfrm>
            <a:off x="609600" y="5310175"/>
            <a:ext cx="10357500" cy="609300"/>
          </a:xfrm>
          <a:prstGeom prst="rect">
            <a:avLst/>
          </a:prstGeom>
          <a:noFill/>
          <a:ln>
            <a:noFill/>
          </a:ln>
        </p:spPr>
        <p:txBody>
          <a:bodyPr anchorCtr="0" anchor="t" bIns="91425" lIns="91425" spcFirstLastPara="1" rIns="91425" wrap="square" tIns="91425">
            <a:spAutoFit/>
          </a:bodyPr>
          <a:lstStyle/>
          <a:p>
            <a:pPr indent="0" lvl="0" marL="0" rtl="0" algn="l">
              <a:lnSpc>
                <a:spcPct val="139925"/>
              </a:lnSpc>
              <a:spcBef>
                <a:spcPts val="0"/>
              </a:spcBef>
              <a:spcAft>
                <a:spcPts val="0"/>
              </a:spcAft>
              <a:buNone/>
            </a:pPr>
            <a:r>
              <a:rPr b="1" lang="en-US" sz="1150">
                <a:solidFill>
                  <a:srgbClr val="475569"/>
                </a:solidFill>
                <a:latin typeface="Plus Jakarta Sans"/>
                <a:ea typeface="Plus Jakarta Sans"/>
                <a:cs typeface="Plus Jakarta Sans"/>
                <a:sym typeface="Plus Jakarta Sans"/>
              </a:rPr>
              <a:t>Catatan</a:t>
            </a:r>
            <a:r>
              <a:rPr lang="en-US" sz="1150">
                <a:solidFill>
                  <a:srgbClr val="475569"/>
                </a:solidFill>
                <a:latin typeface="Plus Jakarta Sans"/>
                <a:ea typeface="Plus Jakarta Sans"/>
                <a:cs typeface="Plus Jakarta Sans"/>
                <a:sym typeface="Plus Jakarta Sans"/>
              </a:rPr>
              <a:t>: ADA Baku Jaga tidak melakukan diagnosis, terapi </a:t>
            </a:r>
            <a:r>
              <a:rPr lang="en-US" sz="1150">
                <a:solidFill>
                  <a:srgbClr val="475569"/>
                </a:solidFill>
                <a:latin typeface="Plus Jakarta Sans"/>
                <a:ea typeface="Plus Jakarta Sans"/>
                <a:cs typeface="Plus Jakarta Sans"/>
                <a:sym typeface="Plus Jakarta Sans"/>
              </a:rPr>
              <a:t>atau penanganan</a:t>
            </a:r>
            <a:r>
              <a:rPr lang="en-US" sz="1150">
                <a:solidFill>
                  <a:srgbClr val="475569"/>
                </a:solidFill>
                <a:latin typeface="Plus Jakarta Sans"/>
                <a:ea typeface="Plus Jakarta Sans"/>
                <a:cs typeface="Plus Jakarta Sans"/>
                <a:sym typeface="Plus Jakarta Sans"/>
              </a:rPr>
              <a:t> klinis hanya berfokus pada pengenalan awal, mitigasi resiko dan </a:t>
            </a:r>
            <a:br>
              <a:rPr lang="en-US" sz="1150">
                <a:solidFill>
                  <a:srgbClr val="475569"/>
                </a:solidFill>
                <a:latin typeface="Plus Jakarta Sans"/>
                <a:ea typeface="Plus Jakarta Sans"/>
                <a:cs typeface="Plus Jakarta Sans"/>
                <a:sym typeface="Plus Jakarta Sans"/>
              </a:rPr>
            </a:br>
            <a:r>
              <a:rPr lang="en-US" sz="1150">
                <a:solidFill>
                  <a:srgbClr val="475569"/>
                </a:solidFill>
                <a:latin typeface="Plus Jakarta Sans"/>
                <a:ea typeface="Plus Jakarta Sans"/>
                <a:cs typeface="Plus Jakarta Sans"/>
                <a:sym typeface="Plus Jakarta Sans"/>
              </a:rPr>
              <a:t>standar rujukan sesuai SOP.</a:t>
            </a:r>
            <a:endParaRPr sz="115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p18"/>
          <p:cNvSpPr/>
          <p:nvPr/>
        </p:nvSpPr>
        <p:spPr>
          <a:xfrm>
            <a:off x="6257925" y="2085230"/>
            <a:ext cx="5324475" cy="1175146"/>
          </a:xfrm>
          <a:prstGeom prst="roundRect">
            <a:avLst>
              <a:gd fmla="val 972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8"/>
          <p:cNvSpPr/>
          <p:nvPr/>
        </p:nvSpPr>
        <p:spPr>
          <a:xfrm>
            <a:off x="6257925" y="3412777"/>
            <a:ext cx="5324475" cy="1175146"/>
          </a:xfrm>
          <a:prstGeom prst="roundRect">
            <a:avLst>
              <a:gd fmla="val 9726"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6257925" y="4740324"/>
            <a:ext cx="5324475" cy="935235"/>
          </a:xfrm>
          <a:prstGeom prst="roundRect">
            <a:avLst>
              <a:gd fmla="val 12221" name="adj"/>
            </a:avLst>
          </a:prstGeom>
          <a:solidFill>
            <a:srgbClr val="FFFFFF"/>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4" name="Google Shape;174;p18"/>
          <p:cNvPicPr preferRelativeResize="0"/>
          <p:nvPr/>
        </p:nvPicPr>
        <p:blipFill rotWithShape="1">
          <a:blip r:embed="rId3">
            <a:alphaModFix/>
          </a:blip>
          <a:srcRect b="0" l="0" r="0" t="0"/>
          <a:stretch/>
        </p:blipFill>
        <p:spPr>
          <a:xfrm>
            <a:off x="609600" y="2070645"/>
            <a:ext cx="5343525" cy="3619500"/>
          </a:xfrm>
          <a:prstGeom prst="rect">
            <a:avLst/>
          </a:prstGeom>
          <a:noFill/>
          <a:ln>
            <a:noFill/>
          </a:ln>
        </p:spPr>
      </p:pic>
      <p:pic>
        <p:nvPicPr>
          <p:cNvPr descr="image.png" id="175" name="Google Shape;175;p18"/>
          <p:cNvPicPr preferRelativeResize="0"/>
          <p:nvPr/>
        </p:nvPicPr>
        <p:blipFill rotWithShape="1">
          <a:blip r:embed="rId4">
            <a:alphaModFix/>
          </a:blip>
          <a:srcRect b="0" l="0" r="0" t="0"/>
          <a:stretch/>
        </p:blipFill>
        <p:spPr>
          <a:xfrm>
            <a:off x="619125" y="2080170"/>
            <a:ext cx="5324475" cy="3600450"/>
          </a:xfrm>
          <a:prstGeom prst="rect">
            <a:avLst/>
          </a:prstGeom>
          <a:noFill/>
          <a:ln>
            <a:noFill/>
          </a:ln>
        </p:spPr>
      </p:pic>
      <p:pic>
        <p:nvPicPr>
          <p:cNvPr descr="image.png" id="176" name="Google Shape;176;p18"/>
          <p:cNvPicPr preferRelativeResize="0"/>
          <p:nvPr/>
        </p:nvPicPr>
        <p:blipFill rotWithShape="1">
          <a:blip r:embed="rId5">
            <a:alphaModFix/>
          </a:blip>
          <a:srcRect b="0" l="0" r="0" t="0"/>
          <a:stretch/>
        </p:blipFill>
        <p:spPr>
          <a:xfrm>
            <a:off x="6496050" y="2309068"/>
            <a:ext cx="238125" cy="190500"/>
          </a:xfrm>
          <a:prstGeom prst="rect">
            <a:avLst/>
          </a:prstGeom>
          <a:noFill/>
          <a:ln>
            <a:noFill/>
          </a:ln>
        </p:spPr>
      </p:pic>
      <p:pic>
        <p:nvPicPr>
          <p:cNvPr descr="image.png" id="177" name="Google Shape;177;p18"/>
          <p:cNvPicPr preferRelativeResize="0"/>
          <p:nvPr/>
        </p:nvPicPr>
        <p:blipFill rotWithShape="1">
          <a:blip r:embed="rId6">
            <a:alphaModFix/>
          </a:blip>
          <a:srcRect b="0" l="0" r="0" t="0"/>
          <a:stretch/>
        </p:blipFill>
        <p:spPr>
          <a:xfrm>
            <a:off x="6496050" y="3636615"/>
            <a:ext cx="219075" cy="190500"/>
          </a:xfrm>
          <a:prstGeom prst="rect">
            <a:avLst/>
          </a:prstGeom>
          <a:noFill/>
          <a:ln>
            <a:noFill/>
          </a:ln>
        </p:spPr>
      </p:pic>
      <p:pic>
        <p:nvPicPr>
          <p:cNvPr descr="image.png" id="178" name="Google Shape;178;p18"/>
          <p:cNvPicPr preferRelativeResize="0"/>
          <p:nvPr/>
        </p:nvPicPr>
        <p:blipFill rotWithShape="1">
          <a:blip r:embed="rId7">
            <a:alphaModFix/>
          </a:blip>
          <a:srcRect b="0" l="0" r="0" t="0"/>
          <a:stretch/>
        </p:blipFill>
        <p:spPr>
          <a:xfrm>
            <a:off x="6496050" y="4964162"/>
            <a:ext cx="190500" cy="190500"/>
          </a:xfrm>
          <a:prstGeom prst="rect">
            <a:avLst/>
          </a:prstGeom>
          <a:noFill/>
          <a:ln>
            <a:noFill/>
          </a:ln>
        </p:spPr>
      </p:pic>
      <p:sp>
        <p:nvSpPr>
          <p:cNvPr id="179" name="Google Shape;179;p18"/>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PUSAT INTERVENSI LAPANGAN</a:t>
            </a:r>
            <a:endParaRPr/>
          </a:p>
        </p:txBody>
      </p:sp>
      <p:sp>
        <p:nvSpPr>
          <p:cNvPr id="180" name="Google Shape;180;p18"/>
          <p:cNvSpPr txBox="1"/>
          <p:nvPr/>
        </p:nvSpPr>
        <p:spPr>
          <a:xfrm>
            <a:off x="609600" y="704850"/>
            <a:ext cx="11582400" cy="3885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Klaster Sekolah Inklusif Kota Ambon</a:t>
            </a:r>
            <a:endParaRPr/>
          </a:p>
        </p:txBody>
      </p:sp>
      <p:sp>
        <p:nvSpPr>
          <p:cNvPr id="181" name="Google Shape;181;p18"/>
          <p:cNvSpPr txBox="1"/>
          <p:nvPr/>
        </p:nvSpPr>
        <p:spPr>
          <a:xfrm>
            <a:off x="6496050" y="2580530"/>
            <a:ext cx="49434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Sekolah percontohan </a:t>
            </a:r>
            <a:r>
              <a:rPr lang="en-US" sz="1350">
                <a:solidFill>
                  <a:srgbClr val="475569"/>
                </a:solidFill>
                <a:latin typeface="Plus Jakarta Sans"/>
                <a:ea typeface="Plus Jakarta Sans"/>
                <a:cs typeface="Plus Jakarta Sans"/>
                <a:sym typeface="Plus Jakarta Sans"/>
              </a:rPr>
              <a:t>yang akan menjadi model selanjutnya.</a:t>
            </a:r>
            <a:endParaRPr/>
          </a:p>
        </p:txBody>
      </p:sp>
      <p:sp>
        <p:nvSpPr>
          <p:cNvPr id="182" name="Google Shape;182;p18"/>
          <p:cNvSpPr txBox="1"/>
          <p:nvPr/>
        </p:nvSpPr>
        <p:spPr>
          <a:xfrm>
            <a:off x="6496050" y="3908077"/>
            <a:ext cx="4943400" cy="2079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Desa Amahusu (Nusaniwe)</a:t>
            </a:r>
            <a:r>
              <a:rPr lang="en-US" sz="1350">
                <a:solidFill>
                  <a:srgbClr val="475569"/>
                </a:solidFill>
                <a:latin typeface="Plus Jakarta Sans"/>
                <a:ea typeface="Plus Jakarta Sans"/>
                <a:cs typeface="Plus Jakarta Sans"/>
                <a:sym typeface="Plus Jakarta Sans"/>
              </a:rPr>
              <a:t>, </a:t>
            </a:r>
            <a:r>
              <a:rPr b="0" i="0" lang="en-US" sz="1350" u="none" cap="none" strike="noStrike">
                <a:solidFill>
                  <a:srgbClr val="475569"/>
                </a:solidFill>
                <a:latin typeface="Plus Jakarta Sans"/>
                <a:ea typeface="Plus Jakarta Sans"/>
                <a:cs typeface="Plus Jakarta Sans"/>
                <a:sym typeface="Plus Jakarta Sans"/>
              </a:rPr>
              <a:t>Jalan Pattimura</a:t>
            </a:r>
            <a:r>
              <a:rPr lang="en-US" sz="1350">
                <a:solidFill>
                  <a:srgbClr val="475569"/>
                </a:solidFill>
                <a:latin typeface="Plus Jakarta Sans"/>
                <a:ea typeface="Plus Jakarta Sans"/>
                <a:cs typeface="Plus Jakarta Sans"/>
                <a:sym typeface="Plus Jakarta Sans"/>
              </a:rPr>
              <a:t>, </a:t>
            </a:r>
            <a:r>
              <a:rPr b="0" i="0" lang="en-US" sz="1350" u="none" cap="none" strike="noStrike">
                <a:solidFill>
                  <a:srgbClr val="475569"/>
                </a:solidFill>
                <a:latin typeface="Plus Jakarta Sans"/>
                <a:ea typeface="Plus Jakarta Sans"/>
                <a:cs typeface="Plus Jakarta Sans"/>
                <a:sym typeface="Plus Jakarta Sans"/>
              </a:rPr>
              <a:t>Uritetu (Sirimau).</a:t>
            </a:r>
            <a:endParaRPr/>
          </a:p>
        </p:txBody>
      </p:sp>
      <p:sp>
        <p:nvSpPr>
          <p:cNvPr id="183" name="Google Shape;183;p18"/>
          <p:cNvSpPr txBox="1"/>
          <p:nvPr/>
        </p:nvSpPr>
        <p:spPr>
          <a:xfrm>
            <a:off x="6496050" y="5235624"/>
            <a:ext cx="5695950" cy="23991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Pemetaan titik lokasi terverifikasi langsung via Google Maps.</a:t>
            </a:r>
            <a:endParaRPr/>
          </a:p>
        </p:txBody>
      </p:sp>
      <p:sp>
        <p:nvSpPr>
          <p:cNvPr id="184" name="Google Shape;184;p18"/>
          <p:cNvSpPr txBox="1"/>
          <p:nvPr/>
        </p:nvSpPr>
        <p:spPr>
          <a:xfrm>
            <a:off x="6848475" y="2285255"/>
            <a:ext cx="1875234"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SMAN 6 Ambon</a:t>
            </a:r>
            <a:endParaRPr/>
          </a:p>
        </p:txBody>
      </p:sp>
      <p:sp>
        <p:nvSpPr>
          <p:cNvPr id="185" name="Google Shape;185;p18"/>
          <p:cNvSpPr txBox="1"/>
          <p:nvPr/>
        </p:nvSpPr>
        <p:spPr>
          <a:xfrm>
            <a:off x="6829425" y="3612802"/>
            <a:ext cx="2425303"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Kecamatan Sasaran</a:t>
            </a:r>
            <a:endParaRPr/>
          </a:p>
        </p:txBody>
      </p:sp>
      <p:sp>
        <p:nvSpPr>
          <p:cNvPr id="186" name="Google Shape;186;p18"/>
          <p:cNvSpPr txBox="1"/>
          <p:nvPr/>
        </p:nvSpPr>
        <p:spPr>
          <a:xfrm>
            <a:off x="6800850" y="4940349"/>
            <a:ext cx="2350293"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Aksesibilitas Digital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9"/>
          <p:cNvSpPr/>
          <p:nvPr/>
        </p:nvSpPr>
        <p:spPr>
          <a:xfrm>
            <a:off x="609600" y="2704058"/>
            <a:ext cx="4816524" cy="2352675"/>
          </a:xfrm>
          <a:prstGeom prst="roundRect">
            <a:avLst>
              <a:gd fmla="val 6477" name="adj"/>
            </a:avLst>
          </a:prstGeom>
          <a:solidFill>
            <a:srgbClr val="0F29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9"/>
          <p:cNvSpPr/>
          <p:nvPr/>
        </p:nvSpPr>
        <p:spPr>
          <a:xfrm>
            <a:off x="5692824" y="2613570"/>
            <a:ext cx="5889575" cy="1190625"/>
          </a:xfrm>
          <a:prstGeom prst="roundRect">
            <a:avLst>
              <a:gd fmla="val 1120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9"/>
          <p:cNvSpPr/>
          <p:nvPr/>
        </p:nvSpPr>
        <p:spPr>
          <a:xfrm>
            <a:off x="5692824" y="3956595"/>
            <a:ext cx="5889575" cy="1190625"/>
          </a:xfrm>
          <a:prstGeom prst="roundRect">
            <a:avLst>
              <a:gd fmla="val 1120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4" name="Google Shape;194;p19"/>
          <p:cNvSpPr/>
          <p:nvPr/>
        </p:nvSpPr>
        <p:spPr>
          <a:xfrm>
            <a:off x="5969049" y="2904083"/>
            <a:ext cx="609600" cy="609600"/>
          </a:xfrm>
          <a:prstGeom prst="roundRect">
            <a:avLst>
              <a:gd fmla="val 18750" name="adj"/>
            </a:avLst>
          </a:prstGeom>
          <a:solidFill>
            <a:srgbClr val="E0F2F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9"/>
          <p:cNvSpPr/>
          <p:nvPr/>
        </p:nvSpPr>
        <p:spPr>
          <a:xfrm>
            <a:off x="5969049" y="4247108"/>
            <a:ext cx="609600" cy="609600"/>
          </a:xfrm>
          <a:prstGeom prst="roundRect">
            <a:avLst>
              <a:gd fmla="val 18750" name="adj"/>
            </a:avLst>
          </a:prstGeom>
          <a:solidFill>
            <a:srgbClr val="FEF3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6" name="Google Shape;196;p19"/>
          <p:cNvPicPr preferRelativeResize="0"/>
          <p:nvPr/>
        </p:nvPicPr>
        <p:blipFill rotWithShape="1">
          <a:blip r:embed="rId3">
            <a:alphaModFix/>
          </a:blip>
          <a:srcRect b="0" l="0" r="0" t="0"/>
          <a:stretch/>
        </p:blipFill>
        <p:spPr>
          <a:xfrm>
            <a:off x="2765375" y="3085058"/>
            <a:ext cx="504825" cy="400050"/>
          </a:xfrm>
          <a:prstGeom prst="rect">
            <a:avLst/>
          </a:prstGeom>
          <a:noFill/>
          <a:ln>
            <a:noFill/>
          </a:ln>
        </p:spPr>
      </p:pic>
      <p:sp>
        <p:nvSpPr>
          <p:cNvPr id="197" name="Google Shape;197;p19"/>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JANGKAUAN SASARAN</a:t>
            </a:r>
            <a:endParaRPr/>
          </a:p>
        </p:txBody>
      </p:sp>
      <p:sp>
        <p:nvSpPr>
          <p:cNvPr id="198" name="Google Shape;198;p19"/>
          <p:cNvSpPr txBox="1"/>
          <p:nvPr/>
        </p:nvSpPr>
        <p:spPr>
          <a:xfrm>
            <a:off x="609600" y="704850"/>
            <a:ext cx="11582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2</a:t>
            </a:r>
            <a:r>
              <a:rPr b="1" lang="en-US" sz="2550">
                <a:solidFill>
                  <a:srgbClr val="0F2942"/>
                </a:solidFill>
                <a:latin typeface="Plus Jakarta Sans"/>
                <a:ea typeface="Plus Jakarta Sans"/>
                <a:cs typeface="Plus Jakarta Sans"/>
                <a:sym typeface="Plus Jakarta Sans"/>
              </a:rPr>
              <a:t>42</a:t>
            </a:r>
            <a:r>
              <a:rPr b="1" i="0" lang="en-US" sz="2550" u="none" cap="none" strike="noStrike">
                <a:solidFill>
                  <a:srgbClr val="0F2942"/>
                </a:solidFill>
                <a:latin typeface="Plus Jakarta Sans"/>
                <a:ea typeface="Plus Jakarta Sans"/>
                <a:cs typeface="Plus Jakarta Sans"/>
                <a:sym typeface="Plus Jakarta Sans"/>
              </a:rPr>
              <a:t> Penerima Manfaat Langsung</a:t>
            </a:r>
            <a:endParaRPr/>
          </a:p>
        </p:txBody>
      </p:sp>
      <p:sp>
        <p:nvSpPr>
          <p:cNvPr id="199" name="Google Shape;199;p19"/>
          <p:cNvSpPr txBox="1"/>
          <p:nvPr/>
        </p:nvSpPr>
        <p:spPr>
          <a:xfrm>
            <a:off x="388534" y="3637508"/>
            <a:ext cx="52587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5400">
                <a:solidFill>
                  <a:srgbClr val="FFFFFF"/>
                </a:solidFill>
                <a:latin typeface="Plus Jakarta Sans"/>
                <a:ea typeface="Plus Jakarta Sans"/>
                <a:cs typeface="Plus Jakarta Sans"/>
                <a:sym typeface="Plus Jakarta Sans"/>
              </a:rPr>
              <a:t>242</a:t>
            </a:r>
            <a:endParaRPr/>
          </a:p>
        </p:txBody>
      </p:sp>
      <p:sp>
        <p:nvSpPr>
          <p:cNvPr id="200" name="Google Shape;200;p19"/>
          <p:cNvSpPr txBox="1"/>
          <p:nvPr/>
        </p:nvSpPr>
        <p:spPr>
          <a:xfrm>
            <a:off x="388534" y="4437608"/>
            <a:ext cx="5258655" cy="238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94A3B8"/>
                </a:solidFill>
                <a:latin typeface="Plus Jakarta Sans"/>
                <a:ea typeface="Plus Jakarta Sans"/>
                <a:cs typeface="Plus Jakarta Sans"/>
                <a:sym typeface="Plus Jakarta Sans"/>
              </a:rPr>
              <a:t>Total Jiwa Penerima Langsung</a:t>
            </a:r>
            <a:endParaRPr/>
          </a:p>
        </p:txBody>
      </p:sp>
      <p:sp>
        <p:nvSpPr>
          <p:cNvPr id="201" name="Google Shape;201;p19"/>
          <p:cNvSpPr txBox="1"/>
          <p:nvPr/>
        </p:nvSpPr>
        <p:spPr>
          <a:xfrm>
            <a:off x="5826174" y="2904083"/>
            <a:ext cx="895350" cy="6096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284C7"/>
                </a:solidFill>
                <a:latin typeface="Plus Jakarta Sans"/>
                <a:ea typeface="Plus Jakarta Sans"/>
                <a:cs typeface="Plus Jakarta Sans"/>
                <a:sym typeface="Plus Jakarta Sans"/>
              </a:rPr>
              <a:t>25</a:t>
            </a:r>
            <a:endParaRPr/>
          </a:p>
        </p:txBody>
      </p:sp>
      <p:sp>
        <p:nvSpPr>
          <p:cNvPr id="202" name="Google Shape;202;p19"/>
          <p:cNvSpPr txBox="1"/>
          <p:nvPr/>
        </p:nvSpPr>
        <p:spPr>
          <a:xfrm>
            <a:off x="5826174" y="4247108"/>
            <a:ext cx="895350" cy="6096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0F172A"/>
                </a:solidFill>
                <a:latin typeface="Plus Jakarta Sans"/>
                <a:ea typeface="Plus Jakarta Sans"/>
                <a:cs typeface="Plus Jakarta Sans"/>
                <a:sym typeface="Plus Jakarta Sans"/>
              </a:rPr>
              <a:t>217</a:t>
            </a:r>
            <a:endParaRPr/>
          </a:p>
        </p:txBody>
      </p:sp>
      <p:sp>
        <p:nvSpPr>
          <p:cNvPr id="203" name="Google Shape;203;p19"/>
          <p:cNvSpPr txBox="1"/>
          <p:nvPr/>
        </p:nvSpPr>
        <p:spPr>
          <a:xfrm>
            <a:off x="6807249" y="2851695"/>
            <a:ext cx="538475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Guru SMA Pendidik</a:t>
            </a:r>
            <a:endParaRPr/>
          </a:p>
        </p:txBody>
      </p:sp>
      <p:sp>
        <p:nvSpPr>
          <p:cNvPr id="204" name="Google Shape;204;p19"/>
          <p:cNvSpPr txBox="1"/>
          <p:nvPr/>
        </p:nvSpPr>
        <p:spPr>
          <a:xfrm>
            <a:off x="6807249" y="3127920"/>
            <a:ext cx="4594175"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Penerima sertifikasi ToT dari SMAN 1, SMA Katolik Xaverius, dan SMAN 6 Ambon.</a:t>
            </a:r>
            <a:endParaRPr/>
          </a:p>
        </p:txBody>
      </p:sp>
      <p:sp>
        <p:nvSpPr>
          <p:cNvPr id="205" name="Google Shape;205;p19"/>
          <p:cNvSpPr txBox="1"/>
          <p:nvPr/>
        </p:nvSpPr>
        <p:spPr>
          <a:xfrm>
            <a:off x="6807249" y="4194720"/>
            <a:ext cx="5384750" cy="2381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2942"/>
                </a:solidFill>
                <a:latin typeface="Plus Jakarta Sans"/>
                <a:ea typeface="Plus Jakarta Sans"/>
                <a:cs typeface="Plus Jakarta Sans"/>
                <a:sym typeface="Plus Jakarta Sans"/>
              </a:rPr>
              <a:t>Siswa SMA Pendamping</a:t>
            </a:r>
            <a:endParaRPr/>
          </a:p>
        </p:txBody>
      </p:sp>
      <p:sp>
        <p:nvSpPr>
          <p:cNvPr id="206" name="Google Shape;206;p19"/>
          <p:cNvSpPr txBox="1"/>
          <p:nvPr/>
        </p:nvSpPr>
        <p:spPr>
          <a:xfrm>
            <a:off x="6807249" y="4470945"/>
            <a:ext cx="4594175"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117 siswa laki-laki dan 100 siswa perempuan, termasuk siswa disabilitas &amp; ABK.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0" name="Shape 210"/>
        <p:cNvGrpSpPr/>
        <p:nvPr/>
      </p:nvGrpSpPr>
      <p:grpSpPr>
        <a:xfrm>
          <a:off x="0" y="0"/>
          <a:ext cx="0" cy="0"/>
          <a:chOff x="0" y="0"/>
          <a:chExt cx="0" cy="0"/>
        </a:xfrm>
      </p:grpSpPr>
      <p:sp>
        <p:nvSpPr>
          <p:cNvPr id="211" name="Google Shape;211;p20"/>
          <p:cNvSpPr/>
          <p:nvPr/>
        </p:nvSpPr>
        <p:spPr>
          <a:xfrm>
            <a:off x="609600" y="2103983"/>
            <a:ext cx="5353050" cy="3552825"/>
          </a:xfrm>
          <a:prstGeom prst="roundRect">
            <a:avLst>
              <a:gd fmla="val 4289" name="adj"/>
            </a:avLst>
          </a:prstGeom>
          <a:solidFill>
            <a:srgbClr val="FFF1F2"/>
          </a:solidFill>
          <a:ln cap="flat" cmpd="sng" w="9525">
            <a:solidFill>
              <a:srgbClr val="FECDD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0"/>
          <p:cNvSpPr/>
          <p:nvPr/>
        </p:nvSpPr>
        <p:spPr>
          <a:xfrm>
            <a:off x="6229350" y="2213520"/>
            <a:ext cx="5353050" cy="3333750"/>
          </a:xfrm>
          <a:prstGeom prst="roundRect">
            <a:avLst>
              <a:gd fmla="val 4571" name="adj"/>
            </a:avLst>
          </a:prstGeom>
          <a:solidFill>
            <a:srgbClr val="F0FDF4"/>
          </a:solidFill>
          <a:ln cap="flat" cmpd="sng" w="9525">
            <a:solidFill>
              <a:srgbClr val="BBF7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3" name="Google Shape;213;p20"/>
          <p:cNvPicPr preferRelativeResize="0"/>
          <p:nvPr/>
        </p:nvPicPr>
        <p:blipFill rotWithShape="1">
          <a:blip r:embed="rId4">
            <a:alphaModFix/>
          </a:blip>
          <a:srcRect b="0" l="0" r="0" t="0"/>
          <a:stretch/>
        </p:blipFill>
        <p:spPr>
          <a:xfrm>
            <a:off x="885825" y="2427833"/>
            <a:ext cx="247650" cy="247650"/>
          </a:xfrm>
          <a:prstGeom prst="rect">
            <a:avLst/>
          </a:prstGeom>
          <a:noFill/>
          <a:ln>
            <a:noFill/>
          </a:ln>
        </p:spPr>
      </p:pic>
      <p:pic>
        <p:nvPicPr>
          <p:cNvPr descr="image.png" id="214" name="Google Shape;214;p20"/>
          <p:cNvPicPr preferRelativeResize="0"/>
          <p:nvPr/>
        </p:nvPicPr>
        <p:blipFill rotWithShape="1">
          <a:blip r:embed="rId5">
            <a:alphaModFix/>
          </a:blip>
          <a:srcRect b="0" l="0" r="0" t="0"/>
          <a:stretch/>
        </p:blipFill>
        <p:spPr>
          <a:xfrm>
            <a:off x="6505575" y="2537370"/>
            <a:ext cx="247650" cy="247650"/>
          </a:xfrm>
          <a:prstGeom prst="rect">
            <a:avLst/>
          </a:prstGeom>
          <a:noFill/>
          <a:ln>
            <a:noFill/>
          </a:ln>
        </p:spPr>
      </p:pic>
      <p:sp>
        <p:nvSpPr>
          <p:cNvPr id="215" name="Google Shape;215;p20"/>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ANALISIS KEBUTUHAN</a:t>
            </a:r>
            <a:endParaRPr/>
          </a:p>
        </p:txBody>
      </p:sp>
      <p:sp>
        <p:nvSpPr>
          <p:cNvPr id="216" name="Google Shape;216;p20"/>
          <p:cNvSpPr txBox="1"/>
          <p:nvPr/>
        </p:nvSpPr>
        <p:spPr>
          <a:xfrm>
            <a:off x="609600" y="704850"/>
            <a:ext cx="11582400" cy="3885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Kondisi Existing vs Solusi Inklusif</a:t>
            </a:r>
            <a:endParaRPr/>
          </a:p>
        </p:txBody>
      </p:sp>
      <p:sp>
        <p:nvSpPr>
          <p:cNvPr id="217" name="Google Shape;217;p20"/>
          <p:cNvSpPr txBox="1"/>
          <p:nvPr/>
        </p:nvSpPr>
        <p:spPr>
          <a:xfrm>
            <a:off x="1247775" y="2418308"/>
            <a:ext cx="2025253"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9F1239"/>
                </a:solidFill>
                <a:latin typeface="Plus Jakarta Sans"/>
                <a:ea typeface="Plus Jakarta Sans"/>
                <a:cs typeface="Plus Jakarta Sans"/>
                <a:sym typeface="Plus Jakarta Sans"/>
              </a:rPr>
              <a:t>Kondisi Saat Ini</a:t>
            </a:r>
            <a:endParaRPr/>
          </a:p>
        </p:txBody>
      </p:sp>
      <p:sp>
        <p:nvSpPr>
          <p:cNvPr id="218" name="Google Shape;218;p20"/>
          <p:cNvSpPr txBox="1"/>
          <p:nvPr/>
        </p:nvSpPr>
        <p:spPr>
          <a:xfrm>
            <a:off x="6867525" y="2527845"/>
            <a:ext cx="2875359"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166534"/>
                </a:solidFill>
                <a:latin typeface="Plus Jakarta Sans"/>
                <a:ea typeface="Plus Jakarta Sans"/>
                <a:cs typeface="Plus Jakarta Sans"/>
                <a:sym typeface="Plus Jakarta Sans"/>
              </a:rPr>
              <a:t>Target ADA Baku Jaga</a:t>
            </a:r>
            <a:endParaRPr/>
          </a:p>
        </p:txBody>
      </p:sp>
      <p:sp>
        <p:nvSpPr>
          <p:cNvPr id="219" name="Google Shape;219;p20"/>
          <p:cNvSpPr txBox="1"/>
          <p:nvPr/>
        </p:nvSpPr>
        <p:spPr>
          <a:xfrm>
            <a:off x="885825" y="2913608"/>
            <a:ext cx="6300900" cy="2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Kesenjangan Program ILP (Integrasi Layanan Primer)</a:t>
            </a:r>
            <a:endParaRPr/>
          </a:p>
        </p:txBody>
      </p:sp>
      <p:sp>
        <p:nvSpPr>
          <p:cNvPr id="220" name="Google Shape;220;p20"/>
          <p:cNvSpPr txBox="1"/>
          <p:nvPr/>
        </p:nvSpPr>
        <p:spPr>
          <a:xfrm>
            <a:off x="885825" y="3170783"/>
            <a:ext cx="48958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Skrining jiwa sebatas data administratif tanpa intervensi lanjutan.</a:t>
            </a:r>
            <a:endParaRPr/>
          </a:p>
        </p:txBody>
      </p:sp>
      <p:sp>
        <p:nvSpPr>
          <p:cNvPr id="221" name="Google Shape;221;p20"/>
          <p:cNvSpPr txBox="1"/>
          <p:nvPr/>
        </p:nvSpPr>
        <p:spPr>
          <a:xfrm>
            <a:off x="885825" y="3780383"/>
            <a:ext cx="6300787"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Kapasitas Guru Terbatas</a:t>
            </a:r>
            <a:endParaRPr/>
          </a:p>
        </p:txBody>
      </p:sp>
      <p:sp>
        <p:nvSpPr>
          <p:cNvPr id="222" name="Google Shape;222;p20"/>
          <p:cNvSpPr txBox="1"/>
          <p:nvPr/>
        </p:nvSpPr>
        <p:spPr>
          <a:xfrm>
            <a:off x="885825" y="4037558"/>
            <a:ext cx="4896000" cy="415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Guru reguler minim keterampilan praktis pertolongan pertama mental</a:t>
            </a:r>
            <a:r>
              <a:rPr lang="en-US" sz="1350">
                <a:solidFill>
                  <a:srgbClr val="475569"/>
                </a:solidFill>
                <a:latin typeface="Plus Jakarta Sans"/>
                <a:ea typeface="Plus Jakarta Sans"/>
                <a:cs typeface="Plus Jakarta Sans"/>
                <a:sym typeface="Plus Jakarta Sans"/>
              </a:rPr>
              <a:t> [1].</a:t>
            </a:r>
            <a:r>
              <a:rPr b="0" i="0" lang="en-US" sz="1350" u="none" cap="none" strike="noStrike">
                <a:solidFill>
                  <a:srgbClr val="475569"/>
                </a:solidFill>
                <a:latin typeface="Plus Jakarta Sans"/>
                <a:ea typeface="Plus Jakarta Sans"/>
                <a:cs typeface="Plus Jakarta Sans"/>
                <a:sym typeface="Plus Jakarta Sans"/>
              </a:rPr>
              <a:t> </a:t>
            </a:r>
            <a:endParaRPr/>
          </a:p>
        </p:txBody>
      </p:sp>
      <p:sp>
        <p:nvSpPr>
          <p:cNvPr id="223" name="Google Shape;223;p20"/>
          <p:cNvSpPr txBox="1"/>
          <p:nvPr/>
        </p:nvSpPr>
        <p:spPr>
          <a:xfrm>
            <a:off x="885825" y="4647158"/>
            <a:ext cx="6300787"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Kecenderungan Teman Sebaya</a:t>
            </a:r>
            <a:endParaRPr/>
          </a:p>
        </p:txBody>
      </p:sp>
      <p:sp>
        <p:nvSpPr>
          <p:cNvPr id="224" name="Google Shape;224;p20"/>
          <p:cNvSpPr txBox="1"/>
          <p:nvPr/>
        </p:nvSpPr>
        <p:spPr>
          <a:xfrm>
            <a:off x="885825" y="4904333"/>
            <a:ext cx="48958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Siswa nyaman curhat ke teman sebaya tanpa wadah terpandu.</a:t>
            </a:r>
            <a:endParaRPr/>
          </a:p>
        </p:txBody>
      </p:sp>
      <p:sp>
        <p:nvSpPr>
          <p:cNvPr id="225" name="Google Shape;225;p20"/>
          <p:cNvSpPr txBox="1"/>
          <p:nvPr/>
        </p:nvSpPr>
        <p:spPr>
          <a:xfrm>
            <a:off x="6505575" y="3023145"/>
            <a:ext cx="56864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Protokol Triase Tindak Lanjut</a:t>
            </a:r>
            <a:endParaRPr/>
          </a:p>
        </p:txBody>
      </p:sp>
      <p:sp>
        <p:nvSpPr>
          <p:cNvPr id="226" name="Google Shape;226;p20"/>
          <p:cNvSpPr txBox="1"/>
          <p:nvPr/>
        </p:nvSpPr>
        <p:spPr>
          <a:xfrm>
            <a:off x="6505575" y="3280320"/>
            <a:ext cx="56864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Rujukan jelas dan terukur melalui ruang UKS/BK adaptif.</a:t>
            </a:r>
            <a:endParaRPr/>
          </a:p>
        </p:txBody>
      </p:sp>
      <p:sp>
        <p:nvSpPr>
          <p:cNvPr id="227" name="Google Shape;227;p20"/>
          <p:cNvSpPr txBox="1"/>
          <p:nvPr/>
        </p:nvSpPr>
        <p:spPr>
          <a:xfrm>
            <a:off x="6505575" y="3670845"/>
            <a:ext cx="56864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Fasilitator Terstandarisasi</a:t>
            </a:r>
            <a:endParaRPr/>
          </a:p>
        </p:txBody>
      </p:sp>
      <p:sp>
        <p:nvSpPr>
          <p:cNvPr id="228" name="Google Shape;228;p20"/>
          <p:cNvSpPr txBox="1"/>
          <p:nvPr/>
        </p:nvSpPr>
        <p:spPr>
          <a:xfrm>
            <a:off x="6505575" y="3928020"/>
            <a:ext cx="48958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Guru tersertifikasi modul MHFA mampu merespons krisis siswa.</a:t>
            </a:r>
            <a:endParaRPr/>
          </a:p>
        </p:txBody>
      </p:sp>
      <p:sp>
        <p:nvSpPr>
          <p:cNvPr id="229" name="Google Shape;229;p20"/>
          <p:cNvSpPr txBox="1"/>
          <p:nvPr/>
        </p:nvSpPr>
        <p:spPr>
          <a:xfrm>
            <a:off x="6505575" y="4537620"/>
            <a:ext cx="5686425"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Ekosistem Baku Jaga</a:t>
            </a:r>
            <a:endParaRPr/>
          </a:p>
        </p:txBody>
      </p:sp>
      <p:sp>
        <p:nvSpPr>
          <p:cNvPr id="230" name="Google Shape;230;p20"/>
          <p:cNvSpPr txBox="1"/>
          <p:nvPr/>
        </p:nvSpPr>
        <p:spPr>
          <a:xfrm>
            <a:off x="6505575" y="4794795"/>
            <a:ext cx="4895850" cy="438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Dukungan teman sebaya aktif, aman, dan bebas stigma sosial.</a:t>
            </a:r>
            <a:endParaRPr/>
          </a:p>
        </p:txBody>
      </p:sp>
      <p:sp>
        <p:nvSpPr>
          <p:cNvPr id="231" name="Google Shape;231;p20"/>
          <p:cNvSpPr txBox="1"/>
          <p:nvPr/>
        </p:nvSpPr>
        <p:spPr>
          <a:xfrm>
            <a:off x="657150" y="5793750"/>
            <a:ext cx="5353200" cy="5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150">
                <a:solidFill>
                  <a:srgbClr val="475569"/>
                </a:solidFill>
                <a:latin typeface="Plus Jakarta Sans"/>
                <a:ea typeface="Plus Jakarta Sans"/>
                <a:cs typeface="Plus Jakarta Sans"/>
                <a:sym typeface="Plus Jakarta Sans"/>
              </a:rPr>
              <a:t>[1] Catatan</a:t>
            </a:r>
            <a:r>
              <a:rPr lang="en-US" sz="1150">
                <a:solidFill>
                  <a:srgbClr val="475569"/>
                </a:solidFill>
                <a:latin typeface="Plus Jakarta Sans"/>
                <a:ea typeface="Plus Jakarta Sans"/>
                <a:cs typeface="Plus Jakarta Sans"/>
                <a:sym typeface="Plus Jakarta Sans"/>
              </a:rPr>
              <a:t>: Hingga 94,9% guru masih menganggap gangguan mental dapat sembuh hanya dari kemauan diri sendiri dan bukan penyakit medis nyata (45,8%). (Putri &amp; Novianty, 2024)</a:t>
            </a:r>
            <a:endParaRPr sz="1150">
              <a:solidFill>
                <a:srgbClr val="475569"/>
              </a:solidFill>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sp>
        <p:nvSpPr>
          <p:cNvPr id="236" name="Google Shape;236;p21"/>
          <p:cNvSpPr txBox="1"/>
          <p:nvPr>
            <p:ph type="title"/>
          </p:nvPr>
        </p:nvSpPr>
        <p:spPr>
          <a:xfrm>
            <a:off x="609600" y="381000"/>
            <a:ext cx="10972800" cy="47640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spcBef>
                <a:spcPts val="0"/>
              </a:spcBef>
              <a:spcAft>
                <a:spcPts val="0"/>
              </a:spcAft>
              <a:buNone/>
            </a:pPr>
            <a:r>
              <a:rPr lang="en-US" sz="2600">
                <a:solidFill>
                  <a:srgbClr val="0F2942"/>
                </a:solidFill>
                <a:latin typeface="Plus Jakarta Sans ExtraBold"/>
                <a:ea typeface="Plus Jakarta Sans ExtraBold"/>
                <a:cs typeface="Plus Jakarta Sans ExtraBold"/>
                <a:sym typeface="Plus Jakarta Sans ExtraBold"/>
              </a:rPr>
              <a:t>Model ADA Baku Jaga</a:t>
            </a:r>
            <a:endParaRPr b="0" sz="2600">
              <a:solidFill>
                <a:srgbClr val="0F2942"/>
              </a:solidFill>
              <a:latin typeface="Plus Jakarta Sans ExtraBold"/>
              <a:ea typeface="Plus Jakarta Sans ExtraBold"/>
              <a:cs typeface="Plus Jakarta Sans ExtraBold"/>
              <a:sym typeface="Plus Jakarta Sans ExtraBold"/>
            </a:endParaRPr>
          </a:p>
        </p:txBody>
      </p:sp>
      <p:sp>
        <p:nvSpPr>
          <p:cNvPr id="237" name="Google Shape;237;p21"/>
          <p:cNvSpPr txBox="1"/>
          <p:nvPr>
            <p:ph idx="12" type="sldNum"/>
          </p:nvPr>
        </p:nvSpPr>
        <p:spPr>
          <a:xfrm>
            <a:off x="8737600" y="8475133"/>
            <a:ext cx="2844900" cy="4869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pSp>
        <p:nvGrpSpPr>
          <p:cNvPr id="238" name="Google Shape;238;p21"/>
          <p:cNvGrpSpPr/>
          <p:nvPr/>
        </p:nvGrpSpPr>
        <p:grpSpPr>
          <a:xfrm>
            <a:off x="609600" y="1047750"/>
            <a:ext cx="5334000" cy="2571900"/>
            <a:chOff x="0" y="0"/>
            <a:chExt cx="5334000" cy="2571900"/>
          </a:xfrm>
        </p:grpSpPr>
        <p:sp>
          <p:nvSpPr>
            <p:cNvPr id="239" name="Google Shape;239;p21"/>
            <p:cNvSpPr/>
            <p:nvPr/>
          </p:nvSpPr>
          <p:spPr>
            <a:xfrm>
              <a:off x="0" y="0"/>
              <a:ext cx="5334000" cy="2571900"/>
            </a:xfrm>
            <a:prstGeom prst="roundRect">
              <a:avLst>
                <a:gd fmla="val 592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21"/>
            <p:cNvSpPr/>
            <p:nvPr/>
          </p:nvSpPr>
          <p:spPr>
            <a:xfrm>
              <a:off x="0" y="0"/>
              <a:ext cx="5334000" cy="57300"/>
            </a:xfrm>
            <a:prstGeom prst="roundRect">
              <a:avLst>
                <a:gd fmla="val 50000" name="adj"/>
              </a:avLst>
            </a:prstGeom>
            <a:solidFill>
              <a:srgbClr val="0D94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21"/>
            <p:cNvSpPr txBox="1"/>
            <p:nvPr/>
          </p:nvSpPr>
          <p:spPr>
            <a:xfrm>
              <a:off x="228600" y="190500"/>
              <a:ext cx="48768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0D9488"/>
                  </a:solidFill>
                  <a:latin typeface="Plus Jakarta Sans ExtraBold"/>
                  <a:ea typeface="Plus Jakarta Sans ExtraBold"/>
                  <a:cs typeface="Plus Jakarta Sans ExtraBold"/>
                  <a:sym typeface="Plus Jakarta Sans ExtraBold"/>
                </a:rPr>
                <a:t>01 PROPOSITION</a:t>
              </a:r>
              <a:r>
                <a:rPr b="1" lang="en-US" sz="1100">
                  <a:solidFill>
                    <a:srgbClr val="0D9488"/>
                  </a:solidFill>
                  <a:latin typeface="Plus Jakarta Sans"/>
                  <a:ea typeface="Plus Jakarta Sans"/>
                  <a:cs typeface="Plus Jakarta Sans"/>
                  <a:sym typeface="Plus Jakarta Sans"/>
                </a:rPr>
                <a:t> · MISSION STATEMENT</a:t>
              </a:r>
              <a:endParaRPr>
                <a:latin typeface="Plus Jakarta Sans"/>
                <a:ea typeface="Plus Jakarta Sans"/>
                <a:cs typeface="Plus Jakarta Sans"/>
                <a:sym typeface="Plus Jakarta Sans"/>
              </a:endParaRPr>
            </a:p>
            <a:p>
              <a:pPr indent="0" lvl="0" marL="0" rtl="0" algn="l">
                <a:spcBef>
                  <a:spcPts val="900"/>
                </a:spcBef>
                <a:spcAft>
                  <a:spcPts val="0"/>
                </a:spcAft>
                <a:buNone/>
              </a:pPr>
              <a:r>
                <a:rPr b="1" lang="en-US" sz="1350">
                  <a:solidFill>
                    <a:srgbClr val="0F2942"/>
                  </a:solidFill>
                  <a:latin typeface="Plus Jakarta Sans"/>
                  <a:ea typeface="Plus Jakarta Sans"/>
                  <a:cs typeface="Plus Jakarta Sans"/>
                  <a:sym typeface="Plus Jakarta Sans"/>
                </a:rPr>
                <a:t>Menciptakan lingkungan sekolah yang aman dan suportif terhadap kesehatan mental.</a:t>
              </a:r>
              <a:endParaRPr b="1" sz="1350">
                <a:solidFill>
                  <a:srgbClr val="0F2942"/>
                </a:solidFill>
                <a:latin typeface="Plus Jakarta Sans"/>
                <a:ea typeface="Plus Jakarta Sans"/>
                <a:cs typeface="Plus Jakarta Sans"/>
                <a:sym typeface="Plus Jakarta Sans"/>
              </a:endParaRPr>
            </a:p>
            <a:p>
              <a:pPr indent="0" lvl="0" marL="0" rtl="0" algn="l">
                <a:spcBef>
                  <a:spcPts val="750"/>
                </a:spcBef>
                <a:spcAft>
                  <a:spcPts val="0"/>
                </a:spcAft>
                <a:buNone/>
              </a:pPr>
              <a:r>
                <a:rPr b="0" lang="en-US" sz="1100">
                  <a:solidFill>
                    <a:srgbClr val="475569"/>
                  </a:solidFill>
                  <a:latin typeface="Plus Jakarta Sans"/>
                  <a:ea typeface="Plus Jakarta Sans"/>
                  <a:cs typeface="Plus Jakarta Sans"/>
                  <a:sym typeface="Plus Jakarta Sans"/>
                </a:rPr>
                <a:t>Membekali guru dengan keterampilan First Aid agar mampu mengenali gejala, memberikan pertolongan pertama, dan tahu kapan harus melakukan rujukan ke profesional.</a:t>
              </a:r>
              <a:endParaRPr b="0" sz="1100">
                <a:solidFill>
                  <a:srgbClr val="475569"/>
                </a:solidFill>
                <a:latin typeface="Plus Jakarta Sans"/>
                <a:ea typeface="Plus Jakarta Sans"/>
                <a:cs typeface="Plus Jakarta Sans"/>
                <a:sym typeface="Plus Jakarta Sans"/>
              </a:endParaRPr>
            </a:p>
          </p:txBody>
        </p:sp>
      </p:grpSp>
      <p:grpSp>
        <p:nvGrpSpPr>
          <p:cNvPr id="242" name="Google Shape;242;p21"/>
          <p:cNvGrpSpPr/>
          <p:nvPr/>
        </p:nvGrpSpPr>
        <p:grpSpPr>
          <a:xfrm>
            <a:off x="6248400" y="1047750"/>
            <a:ext cx="5334000" cy="2571900"/>
            <a:chOff x="0" y="0"/>
            <a:chExt cx="5334000" cy="2571900"/>
          </a:xfrm>
        </p:grpSpPr>
        <p:sp>
          <p:nvSpPr>
            <p:cNvPr id="243" name="Google Shape;243;p21"/>
            <p:cNvSpPr/>
            <p:nvPr/>
          </p:nvSpPr>
          <p:spPr>
            <a:xfrm>
              <a:off x="0" y="0"/>
              <a:ext cx="5334000" cy="2571900"/>
            </a:xfrm>
            <a:prstGeom prst="roundRect">
              <a:avLst>
                <a:gd fmla="val 5925"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21"/>
            <p:cNvSpPr/>
            <p:nvPr/>
          </p:nvSpPr>
          <p:spPr>
            <a:xfrm>
              <a:off x="0" y="0"/>
              <a:ext cx="5334000" cy="57300"/>
            </a:xfrm>
            <a:prstGeom prst="roundRect">
              <a:avLst>
                <a:gd fmla="val 50000" name="adj"/>
              </a:avLst>
            </a:prstGeom>
            <a:solidFill>
              <a:srgbClr val="0284C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1"/>
            <p:cNvSpPr txBox="1"/>
            <p:nvPr/>
          </p:nvSpPr>
          <p:spPr>
            <a:xfrm>
              <a:off x="228600" y="190500"/>
              <a:ext cx="4876800" cy="2190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0284C7"/>
                  </a:solidFill>
                  <a:latin typeface="Plus Jakarta Sans ExtraBold"/>
                  <a:ea typeface="Plus Jakarta Sans ExtraBold"/>
                  <a:cs typeface="Plus Jakarta Sans ExtraBold"/>
                  <a:sym typeface="Plus Jakarta Sans ExtraBold"/>
                </a:rPr>
                <a:t>04 PROCESS</a:t>
              </a:r>
              <a:r>
                <a:rPr b="1" lang="en-US" sz="1100">
                  <a:solidFill>
                    <a:srgbClr val="0284C7"/>
                  </a:solidFill>
                  <a:latin typeface="Plus Jakarta Sans"/>
                  <a:ea typeface="Plus Jakarta Sans"/>
                  <a:cs typeface="Plus Jakarta Sans"/>
                  <a:sym typeface="Plus Jakarta Sans"/>
                </a:rPr>
                <a:t> · LOGIC MODEL</a:t>
              </a:r>
              <a:endParaRPr>
                <a:latin typeface="Plus Jakarta Sans"/>
                <a:ea typeface="Plus Jakarta Sans"/>
                <a:cs typeface="Plus Jakarta Sans"/>
                <a:sym typeface="Plus Jakarta Sans"/>
              </a:endParaRPr>
            </a:p>
            <a:p>
              <a:pPr indent="-295275" lvl="0" marL="457200" rtl="0" algn="l">
                <a:spcBef>
                  <a:spcPts val="900"/>
                </a:spcBef>
                <a:spcAft>
                  <a:spcPts val="0"/>
                </a:spcAft>
                <a:buClr>
                  <a:srgbClr val="475569"/>
                </a:buClr>
                <a:buSzPts val="1050"/>
                <a:buFont typeface="Plus Jakarta Sans"/>
                <a:buChar char="●"/>
              </a:pPr>
              <a:r>
                <a:rPr b="1" lang="en-US" sz="1050">
                  <a:solidFill>
                    <a:srgbClr val="0F2942"/>
                  </a:solidFill>
                  <a:latin typeface="Plus Jakarta Sans"/>
                  <a:ea typeface="Plus Jakarta Sans"/>
                  <a:cs typeface="Plus Jakarta Sans"/>
                  <a:sym typeface="Plus Jakarta Sans"/>
                </a:rPr>
                <a:t>Input:</a:t>
              </a:r>
              <a:r>
                <a:rPr lang="en-US" sz="1050">
                  <a:solidFill>
                    <a:srgbClr val="475569"/>
                  </a:solidFill>
                  <a:latin typeface="Plus Jakarta Sans"/>
                  <a:ea typeface="Plus Jakarta Sans"/>
                  <a:cs typeface="Plus Jakarta Sans"/>
                  <a:sym typeface="Plus Jakarta Sans"/>
                </a:rPr>
                <a:t> Modul pelatihan MHFA adaptif, MHFA Kit fisik, fasilitator terlatih &amp; instrumen evaluasi </a:t>
              </a:r>
              <a:r>
                <a:rPr lang="en-US" sz="950">
                  <a:solidFill>
                    <a:srgbClr val="475569"/>
                  </a:solidFill>
                  <a:latin typeface="Plus Jakarta Sans"/>
                  <a:ea typeface="Plus Jakarta Sans"/>
                  <a:cs typeface="Plus Jakarta Sans"/>
                  <a:sym typeface="Plus Jakarta Sans"/>
                </a:rPr>
                <a:t> (diawali dengan sertifikasi internal praktisi tim ADA Baku Jaga).</a:t>
              </a:r>
              <a:endParaRPr sz="1050">
                <a:solidFill>
                  <a:srgbClr val="475569"/>
                </a:solidFill>
                <a:latin typeface="Plus Jakarta Sans"/>
                <a:ea typeface="Plus Jakarta Sans"/>
                <a:cs typeface="Plus Jakarta Sans"/>
                <a:sym typeface="Plus Jakarta Sans"/>
              </a:endParaRPr>
            </a:p>
            <a:p>
              <a:pPr indent="-295275" lvl="0" marL="457200" rtl="0" algn="l">
                <a:spcBef>
                  <a:spcPts val="450"/>
                </a:spcBef>
                <a:spcAft>
                  <a:spcPts val="0"/>
                </a:spcAft>
                <a:buClr>
                  <a:srgbClr val="475569"/>
                </a:buClr>
                <a:buSzPts val="1050"/>
                <a:buFont typeface="Plus Jakarta Sans"/>
                <a:buChar char="●"/>
              </a:pPr>
              <a:r>
                <a:rPr b="1" lang="en-US" sz="1050">
                  <a:solidFill>
                    <a:srgbClr val="0F2942"/>
                  </a:solidFill>
                  <a:latin typeface="Plus Jakarta Sans"/>
                  <a:ea typeface="Plus Jakarta Sans"/>
                  <a:cs typeface="Plus Jakarta Sans"/>
                  <a:sym typeface="Plus Jakarta Sans"/>
                </a:rPr>
                <a:t>Proses:</a:t>
              </a:r>
              <a:r>
                <a:rPr lang="en-US" sz="1050">
                  <a:solidFill>
                    <a:srgbClr val="475569"/>
                  </a:solidFill>
                  <a:latin typeface="Plus Jakarta Sans"/>
                  <a:ea typeface="Plus Jakarta Sans"/>
                  <a:cs typeface="Plus Jakarta Sans"/>
                  <a:sym typeface="Plus Jakarta Sans"/>
                </a:rPr>
                <a:t> Validasi modul, ToT guru BK, dan distribusi MHFA Kit.</a:t>
              </a:r>
              <a:endParaRPr sz="1050">
                <a:solidFill>
                  <a:srgbClr val="475569"/>
                </a:solidFill>
                <a:latin typeface="Plus Jakarta Sans"/>
                <a:ea typeface="Plus Jakarta Sans"/>
                <a:cs typeface="Plus Jakarta Sans"/>
                <a:sym typeface="Plus Jakarta Sans"/>
              </a:endParaRPr>
            </a:p>
            <a:p>
              <a:pPr indent="-295275" lvl="0" marL="457200" rtl="0" algn="l">
                <a:spcBef>
                  <a:spcPts val="450"/>
                </a:spcBef>
                <a:spcAft>
                  <a:spcPts val="0"/>
                </a:spcAft>
                <a:buClr>
                  <a:srgbClr val="475569"/>
                </a:buClr>
                <a:buSzPts val="1050"/>
                <a:buFont typeface="Plus Jakarta Sans"/>
                <a:buChar char="●"/>
              </a:pPr>
              <a:r>
                <a:rPr b="1" lang="en-US" sz="1050">
                  <a:solidFill>
                    <a:srgbClr val="0F2942"/>
                  </a:solidFill>
                  <a:latin typeface="Plus Jakarta Sans"/>
                  <a:ea typeface="Plus Jakarta Sans"/>
                  <a:cs typeface="Plus Jakarta Sans"/>
                  <a:sym typeface="Plus Jakarta Sans"/>
                </a:rPr>
                <a:t>Output:</a:t>
              </a:r>
              <a:r>
                <a:rPr lang="en-US" sz="1050">
                  <a:solidFill>
                    <a:srgbClr val="475569"/>
                  </a:solidFill>
                  <a:latin typeface="Plus Jakarta Sans"/>
                  <a:ea typeface="Plus Jakarta Sans"/>
                  <a:cs typeface="Plus Jakarta Sans"/>
                  <a:sym typeface="Plus Jakarta Sans"/>
                </a:rPr>
                <a:t> 25 Guru BK tersertifikasi fasilitator + 13 Kit terdistribusi di UKS/BK. Model </a:t>
              </a:r>
              <a:r>
                <a:rPr b="1" i="1" lang="en-US" sz="1050">
                  <a:solidFill>
                    <a:srgbClr val="475569"/>
                  </a:solidFill>
                  <a:latin typeface="Plus Jakarta Sans"/>
                  <a:ea typeface="Plus Jakarta Sans"/>
                  <a:cs typeface="Plus Jakarta Sans"/>
                  <a:sym typeface="Plus Jakarta Sans"/>
                </a:rPr>
                <a:t>social entrepreneurship </a:t>
              </a:r>
              <a:r>
                <a:rPr lang="en-US" sz="1050">
                  <a:solidFill>
                    <a:srgbClr val="475569"/>
                  </a:solidFill>
                  <a:latin typeface="Plus Jakarta Sans"/>
                  <a:ea typeface="Plus Jakarta Sans"/>
                  <a:cs typeface="Plus Jakarta Sans"/>
                  <a:sym typeface="Plus Jakarta Sans"/>
                </a:rPr>
                <a:t>untuk monetisasi lewat B2G/B2B pasca program.</a:t>
              </a:r>
              <a:endParaRPr sz="1050">
                <a:solidFill>
                  <a:srgbClr val="475569"/>
                </a:solidFill>
                <a:latin typeface="Plus Jakarta Sans"/>
                <a:ea typeface="Plus Jakarta Sans"/>
                <a:cs typeface="Plus Jakarta Sans"/>
                <a:sym typeface="Plus Jakarta Sans"/>
              </a:endParaRPr>
            </a:p>
            <a:p>
              <a:pPr indent="-295275" lvl="0" marL="457200" rtl="0" algn="l">
                <a:spcBef>
                  <a:spcPts val="450"/>
                </a:spcBef>
                <a:spcAft>
                  <a:spcPts val="0"/>
                </a:spcAft>
                <a:buClr>
                  <a:srgbClr val="475569"/>
                </a:buClr>
                <a:buSzPts val="1050"/>
                <a:buFont typeface="Plus Jakarta Sans"/>
                <a:buChar char="●"/>
              </a:pPr>
              <a:r>
                <a:rPr b="1" lang="en-US" sz="1050">
                  <a:solidFill>
                    <a:srgbClr val="0F2942"/>
                  </a:solidFill>
                  <a:latin typeface="Plus Jakarta Sans"/>
                  <a:ea typeface="Plus Jakarta Sans"/>
                  <a:cs typeface="Plus Jakarta Sans"/>
                  <a:sym typeface="Plus Jakarta Sans"/>
                </a:rPr>
                <a:t>Outcome:</a:t>
              </a:r>
              <a:r>
                <a:rPr lang="en-US" sz="1050">
                  <a:solidFill>
                    <a:srgbClr val="475569"/>
                  </a:solidFill>
                  <a:latin typeface="Plus Jakarta Sans"/>
                  <a:ea typeface="Plus Jakarta Sans"/>
                  <a:cs typeface="Plus Jakarta Sans"/>
                  <a:sym typeface="Plus Jakarta Sans"/>
                </a:rPr>
                <a:t> Kompetensi &amp; self-efficacy guru tinggi merespon krisis + 5 Gugus konseling sebaya aktif menjangkau 500+ siswa (pemahaman 80%).</a:t>
              </a:r>
              <a:endParaRPr sz="1050">
                <a:solidFill>
                  <a:srgbClr val="475569"/>
                </a:solidFill>
                <a:latin typeface="Plus Jakarta Sans"/>
                <a:ea typeface="Plus Jakarta Sans"/>
                <a:cs typeface="Plus Jakarta Sans"/>
                <a:sym typeface="Plus Jakarta Sans"/>
              </a:endParaRPr>
            </a:p>
          </p:txBody>
        </p:sp>
      </p:grpSp>
      <p:grpSp>
        <p:nvGrpSpPr>
          <p:cNvPr id="246" name="Google Shape;246;p21"/>
          <p:cNvGrpSpPr/>
          <p:nvPr/>
        </p:nvGrpSpPr>
        <p:grpSpPr>
          <a:xfrm>
            <a:off x="609600" y="3848100"/>
            <a:ext cx="5334000" cy="2667000"/>
            <a:chOff x="0" y="0"/>
            <a:chExt cx="5334000" cy="2667000"/>
          </a:xfrm>
        </p:grpSpPr>
        <p:sp>
          <p:nvSpPr>
            <p:cNvPr id="247" name="Google Shape;247;p21"/>
            <p:cNvSpPr/>
            <p:nvPr/>
          </p:nvSpPr>
          <p:spPr>
            <a:xfrm>
              <a:off x="0" y="0"/>
              <a:ext cx="5334000" cy="26670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21"/>
            <p:cNvSpPr/>
            <p:nvPr/>
          </p:nvSpPr>
          <p:spPr>
            <a:xfrm>
              <a:off x="0" y="0"/>
              <a:ext cx="5334000" cy="57300"/>
            </a:xfrm>
            <a:prstGeom prst="roundRect">
              <a:avLst>
                <a:gd fmla="val 50000" name="adj"/>
              </a:avLst>
            </a:prstGeom>
            <a:solidFill>
              <a:srgbClr val="6366F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1"/>
            <p:cNvSpPr txBox="1"/>
            <p:nvPr/>
          </p:nvSpPr>
          <p:spPr>
            <a:xfrm>
              <a:off x="228600" y="190500"/>
              <a:ext cx="4876800" cy="2286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6366F1"/>
                  </a:solidFill>
                  <a:latin typeface="Plus Jakarta Sans ExtraBold"/>
                  <a:ea typeface="Plus Jakarta Sans ExtraBold"/>
                  <a:cs typeface="Plus Jakarta Sans ExtraBold"/>
                  <a:sym typeface="Plus Jakarta Sans ExtraBold"/>
                </a:rPr>
                <a:t>02 EVIDENCE</a:t>
              </a:r>
              <a:r>
                <a:rPr b="1" i="0" lang="en-US" sz="1100">
                  <a:solidFill>
                    <a:srgbClr val="6366F1"/>
                  </a:solidFill>
                  <a:latin typeface="Plus Jakarta Sans"/>
                  <a:ea typeface="Plus Jakarta Sans"/>
                  <a:cs typeface="Plus Jakarta Sans"/>
                  <a:sym typeface="Plus Jakarta Sans"/>
                </a:rPr>
                <a:t> BASE · WHAT'S POSSIBLE</a:t>
              </a:r>
              <a:endParaRPr b="0" i="0" sz="1100">
                <a:solidFill>
                  <a:srgbClr val="6366F1"/>
                </a:solidFill>
                <a:latin typeface="Plus Jakarta Sans ExtraBold"/>
                <a:ea typeface="Plus Jakarta Sans ExtraBold"/>
                <a:cs typeface="Plus Jakarta Sans ExtraBold"/>
                <a:sym typeface="Plus Jakarta Sans ExtraBold"/>
              </a:endParaRPr>
            </a:p>
            <a:p>
              <a:pPr indent="0" lvl="0" marL="0" rtl="0" algn="l">
                <a:spcBef>
                  <a:spcPts val="800"/>
                </a:spcBef>
                <a:spcAft>
                  <a:spcPts val="0"/>
                </a:spcAft>
                <a:buNone/>
              </a:pPr>
              <a:r>
                <a:rPr b="1" i="0" lang="en-US" sz="1050">
                  <a:solidFill>
                    <a:srgbClr val="0F2942"/>
                  </a:solidFill>
                  <a:latin typeface="Plus Jakarta Sans"/>
                  <a:ea typeface="Plus Jakarta Sans"/>
                  <a:cs typeface="Plus Jakarta Sans"/>
                  <a:sym typeface="Plus Jakarta Sans"/>
                </a:rPr>
                <a:t>Konteks Lokal &amp; Australia</a:t>
              </a:r>
              <a:endParaRPr b="0" i="0" sz="1100">
                <a:solidFill>
                  <a:srgbClr val="6366F1"/>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i="0" lang="en-US" sz="950">
                  <a:solidFill>
                    <a:srgbClr val="475569"/>
                  </a:solidFill>
                  <a:latin typeface="Plus Jakarta Sans"/>
                  <a:ea typeface="Plus Jakarta Sans"/>
                  <a:cs typeface="Plus Jakarta Sans"/>
                  <a:sym typeface="Plus Jakarta Sans"/>
                </a:rPr>
                <a:t>• Validasi target SMA di Australia membuktikan efektivitas skema MHFA sekolah.</a:t>
              </a:r>
              <a:endParaRPr b="0" i="0" sz="950">
                <a:solidFill>
                  <a:srgbClr val="6366F1"/>
                </a:solidFill>
                <a:latin typeface="Plus Jakarta Sans ExtraBold"/>
                <a:ea typeface="Plus Jakarta Sans ExtraBold"/>
                <a:cs typeface="Plus Jakarta Sans ExtraBold"/>
                <a:sym typeface="Plus Jakarta Sans ExtraBold"/>
              </a:endParaRPr>
            </a:p>
            <a:p>
              <a:pPr indent="0" lvl="0" marL="0" rtl="0" algn="l">
                <a:spcBef>
                  <a:spcPts val="800"/>
                </a:spcBef>
                <a:spcAft>
                  <a:spcPts val="0"/>
                </a:spcAft>
                <a:buNone/>
              </a:pPr>
              <a:r>
                <a:rPr b="1" i="0" lang="en-US" sz="1050">
                  <a:solidFill>
                    <a:srgbClr val="0F2942"/>
                  </a:solidFill>
                  <a:latin typeface="Plus Jakarta Sans"/>
                  <a:ea typeface="Plus Jakarta Sans"/>
                  <a:cs typeface="Plus Jakarta Sans"/>
                  <a:sym typeface="Plus Jakarta Sans"/>
                </a:rPr>
                <a:t>Lintas Negara &amp; Yordania</a:t>
              </a:r>
              <a:endParaRPr b="0" i="0" sz="1100">
                <a:solidFill>
                  <a:srgbClr val="6366F1"/>
                </a:solidFill>
                <a:latin typeface="Plus Jakarta Sans ExtraBold"/>
                <a:ea typeface="Plus Jakarta Sans ExtraBold"/>
                <a:cs typeface="Plus Jakarta Sans ExtraBold"/>
                <a:sym typeface="Plus Jakarta Sans ExtraBold"/>
              </a:endParaRPr>
            </a:p>
            <a:p>
              <a:pPr indent="0" lvl="0" marL="0" rtl="0" algn="l">
                <a:spcBef>
                  <a:spcPts val="300"/>
                </a:spcBef>
                <a:spcAft>
                  <a:spcPts val="0"/>
                </a:spcAft>
                <a:buNone/>
              </a:pPr>
              <a:r>
                <a:rPr b="0" i="0" lang="en-US" sz="950">
                  <a:solidFill>
                    <a:srgbClr val="475569"/>
                  </a:solidFill>
                  <a:latin typeface="Plus Jakarta Sans"/>
                  <a:ea typeface="Plus Jakarta Sans"/>
                  <a:cs typeface="Plus Jakarta Sans"/>
                  <a:sym typeface="Plus Jakarta Sans"/>
                </a:rPr>
                <a:t>• Studi kasus Yordania menunjukkan keberhasilan intervensi berbasis komunitas skala global.</a:t>
              </a:r>
              <a:endParaRPr b="0" i="0" sz="950">
                <a:solidFill>
                  <a:srgbClr val="6366F1"/>
                </a:solidFill>
                <a:latin typeface="Plus Jakarta Sans ExtraBold"/>
                <a:ea typeface="Plus Jakarta Sans ExtraBold"/>
                <a:cs typeface="Plus Jakarta Sans ExtraBold"/>
                <a:sym typeface="Plus Jakarta Sans ExtraBold"/>
              </a:endParaRPr>
            </a:p>
          </p:txBody>
        </p:sp>
      </p:grpSp>
      <p:grpSp>
        <p:nvGrpSpPr>
          <p:cNvPr id="250" name="Google Shape;250;p21"/>
          <p:cNvGrpSpPr/>
          <p:nvPr/>
        </p:nvGrpSpPr>
        <p:grpSpPr>
          <a:xfrm>
            <a:off x="6248400" y="3848100"/>
            <a:ext cx="5334000" cy="2667000"/>
            <a:chOff x="0" y="0"/>
            <a:chExt cx="5334000" cy="2667000"/>
          </a:xfrm>
        </p:grpSpPr>
        <p:sp>
          <p:nvSpPr>
            <p:cNvPr id="251" name="Google Shape;251;p21"/>
            <p:cNvSpPr/>
            <p:nvPr/>
          </p:nvSpPr>
          <p:spPr>
            <a:xfrm>
              <a:off x="0" y="0"/>
              <a:ext cx="5334000" cy="2667000"/>
            </a:xfrm>
            <a:prstGeom prst="roundRect">
              <a:avLst>
                <a:gd fmla="val 5714" name="adj"/>
              </a:avLst>
            </a:prstGeom>
            <a:solidFill>
              <a:srgbClr val="FFFFFF"/>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2" name="Google Shape;252;p21"/>
            <p:cNvSpPr/>
            <p:nvPr/>
          </p:nvSpPr>
          <p:spPr>
            <a:xfrm>
              <a:off x="0" y="0"/>
              <a:ext cx="5334000" cy="57300"/>
            </a:xfrm>
            <a:prstGeom prst="roundRect">
              <a:avLst>
                <a:gd fmla="val 50000" name="adj"/>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1"/>
            <p:cNvSpPr txBox="1"/>
            <p:nvPr/>
          </p:nvSpPr>
          <p:spPr>
            <a:xfrm>
              <a:off x="228600" y="190500"/>
              <a:ext cx="4876800" cy="2286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lang="en-US" sz="1100">
                  <a:solidFill>
                    <a:srgbClr val="D97706"/>
                  </a:solidFill>
                  <a:latin typeface="Plus Jakarta Sans ExtraBold"/>
                  <a:ea typeface="Plus Jakarta Sans ExtraBold"/>
                  <a:cs typeface="Plus Jakarta Sans ExtraBold"/>
                  <a:sym typeface="Plus Jakarta Sans ExtraBold"/>
                </a:rPr>
                <a:t>03 EVIDENCE</a:t>
              </a:r>
              <a:r>
                <a:rPr b="1" i="0" lang="en-US" sz="1100">
                  <a:solidFill>
                    <a:srgbClr val="D97706"/>
                  </a:solidFill>
                  <a:latin typeface="Plus Jakarta Sans"/>
                  <a:ea typeface="Plus Jakarta Sans"/>
                  <a:cs typeface="Plus Jakarta Sans"/>
                  <a:sym typeface="Plus Jakarta Sans"/>
                </a:rPr>
                <a:t> BASE · KNOWN BEST PRACTICES</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800"/>
                </a:spcBef>
                <a:spcAft>
                  <a:spcPts val="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Adopsi standar pertolongan pertama Mental Health First Aid (MHFA) internasional (Australia &amp; Yordania)</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300"/>
                </a:spcBef>
                <a:spcAft>
                  <a:spcPts val="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Adaptasi modul spesifik budaya &amp; situasi lokal agar relevan</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300"/>
                </a:spcBef>
                <a:spcAft>
                  <a:spcPts val="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Modifikasi durasi &amp; praktik langsung secara konkrit</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300"/>
                </a:spcBef>
                <a:spcAft>
                  <a:spcPts val="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Menyediakan sensory kit &amp; mental health kit terpisah</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300"/>
                </a:spcBef>
                <a:spcAft>
                  <a:spcPts val="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Fasilitas rujukan, evaluasi &amp; dukungan ganda (Dual Role)</a:t>
              </a:r>
              <a:endParaRPr b="0" i="0" sz="1100">
                <a:solidFill>
                  <a:srgbClr val="D97706"/>
                </a:solidFill>
                <a:latin typeface="Plus Jakarta Sans ExtraBold"/>
                <a:ea typeface="Plus Jakarta Sans ExtraBold"/>
                <a:cs typeface="Plus Jakarta Sans ExtraBold"/>
                <a:sym typeface="Plus Jakarta Sans ExtraBold"/>
              </a:endParaRPr>
            </a:p>
            <a:p>
              <a:pPr indent="-298450" lvl="0" marL="457200" rtl="0" algn="l">
                <a:spcBef>
                  <a:spcPts val="300"/>
                </a:spcBef>
                <a:spcAft>
                  <a:spcPts val="300"/>
                </a:spcAft>
                <a:buClr>
                  <a:srgbClr val="D97706"/>
                </a:buClr>
                <a:buSzPts val="1100"/>
                <a:buFont typeface="Plus Jakarta Sans"/>
                <a:buChar char="●"/>
              </a:pPr>
              <a:r>
                <a:rPr b="0" i="0" lang="en-US" sz="950">
                  <a:solidFill>
                    <a:srgbClr val="475569"/>
                  </a:solidFill>
                  <a:latin typeface="Plus Jakarta Sans"/>
                  <a:ea typeface="Plus Jakarta Sans"/>
                  <a:cs typeface="Plus Jakarta Sans"/>
                  <a:sym typeface="Plus Jakarta Sans"/>
                </a:rPr>
                <a:t>Sertifikasi konselor profesional untuk kredibilitas program</a:t>
              </a:r>
              <a:endParaRPr b="0" i="0" sz="1100">
                <a:solidFill>
                  <a:srgbClr val="D97706"/>
                </a:solidFill>
                <a:latin typeface="Plus Jakarta Sans ExtraBold"/>
                <a:ea typeface="Plus Jakarta Sans ExtraBold"/>
                <a:cs typeface="Plus Jakarta Sans ExtraBold"/>
                <a:sym typeface="Plus Jakarta Sans ExtraBold"/>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257" name="Shape 257"/>
        <p:cNvGrpSpPr/>
        <p:nvPr/>
      </p:nvGrpSpPr>
      <p:grpSpPr>
        <a:xfrm>
          <a:off x="0" y="0"/>
          <a:ext cx="0" cy="0"/>
          <a:chOff x="0" y="0"/>
          <a:chExt cx="0" cy="0"/>
        </a:xfrm>
      </p:grpSpPr>
      <p:sp>
        <p:nvSpPr>
          <p:cNvPr id="258" name="Google Shape;258;p22"/>
          <p:cNvSpPr/>
          <p:nvPr/>
        </p:nvSpPr>
        <p:spPr>
          <a:xfrm>
            <a:off x="609600" y="3049934"/>
            <a:ext cx="3505200" cy="1660921"/>
          </a:xfrm>
          <a:prstGeom prst="roundRect">
            <a:avLst>
              <a:gd fmla="val 8028"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9" name="Google Shape;259;p22"/>
          <p:cNvSpPr/>
          <p:nvPr/>
        </p:nvSpPr>
        <p:spPr>
          <a:xfrm>
            <a:off x="4343400" y="2929979"/>
            <a:ext cx="3505200" cy="1900832"/>
          </a:xfrm>
          <a:prstGeom prst="roundRect">
            <a:avLst>
              <a:gd fmla="val 7015"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p:nvPr/>
        </p:nvSpPr>
        <p:spPr>
          <a:xfrm>
            <a:off x="8077200" y="3049934"/>
            <a:ext cx="3505200" cy="1660921"/>
          </a:xfrm>
          <a:prstGeom prst="roundRect">
            <a:avLst>
              <a:gd fmla="val 8028"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1" name="Google Shape;261;p22"/>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KEBERLANJUTAN PROGRAM</a:t>
            </a:r>
            <a:endParaRPr/>
          </a:p>
        </p:txBody>
      </p:sp>
      <p:sp>
        <p:nvSpPr>
          <p:cNvPr id="262" name="Google Shape;262;p22"/>
          <p:cNvSpPr txBox="1"/>
          <p:nvPr/>
        </p:nvSpPr>
        <p:spPr>
          <a:xfrm>
            <a:off x="609600" y="704850"/>
            <a:ext cx="11582400" cy="3885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Piramida Dampak &amp; Evaluasi</a:t>
            </a:r>
            <a:endParaRPr/>
          </a:p>
        </p:txBody>
      </p:sp>
      <p:sp>
        <p:nvSpPr>
          <p:cNvPr id="263" name="Google Shape;263;p22"/>
          <p:cNvSpPr txBox="1"/>
          <p:nvPr/>
        </p:nvSpPr>
        <p:spPr>
          <a:xfrm>
            <a:off x="847725" y="3326159"/>
            <a:ext cx="3786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TINGKAT 1 · OUTPUT</a:t>
            </a:r>
            <a:endParaRPr/>
          </a:p>
        </p:txBody>
      </p:sp>
      <p:sp>
        <p:nvSpPr>
          <p:cNvPr id="264" name="Google Shape;264;p22"/>
          <p:cNvSpPr txBox="1"/>
          <p:nvPr/>
        </p:nvSpPr>
        <p:spPr>
          <a:xfrm>
            <a:off x="847725" y="3573809"/>
            <a:ext cx="3975496"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2942"/>
                </a:solidFill>
                <a:latin typeface="Plus Jakarta Sans"/>
                <a:ea typeface="Plus Jakarta Sans"/>
                <a:cs typeface="Plus Jakarta Sans"/>
                <a:sym typeface="Plus Jakarta Sans"/>
              </a:rPr>
              <a:t>Capaian Fisik</a:t>
            </a:r>
            <a:endParaRPr/>
          </a:p>
        </p:txBody>
      </p:sp>
      <p:sp>
        <p:nvSpPr>
          <p:cNvPr id="265" name="Google Shape;265;p22"/>
          <p:cNvSpPr txBox="1"/>
          <p:nvPr/>
        </p:nvSpPr>
        <p:spPr>
          <a:xfrm>
            <a:off x="847725" y="3954809"/>
            <a:ext cx="31242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25 Guru </a:t>
            </a:r>
            <a:r>
              <a:rPr lang="en-US" sz="1350">
                <a:solidFill>
                  <a:srgbClr val="475569"/>
                </a:solidFill>
                <a:latin typeface="Plus Jakarta Sans"/>
                <a:ea typeface="Plus Jakarta Sans"/>
                <a:cs typeface="Plus Jakarta Sans"/>
                <a:sym typeface="Plus Jakarta Sans"/>
              </a:rPr>
              <a:t>lulus </a:t>
            </a:r>
            <a:r>
              <a:rPr b="0" i="0" lang="en-US" sz="1350" u="none" cap="none" strike="noStrike">
                <a:solidFill>
                  <a:srgbClr val="475569"/>
                </a:solidFill>
                <a:latin typeface="Plus Jakarta Sans"/>
                <a:ea typeface="Plus Jakarta Sans"/>
                <a:cs typeface="Plus Jakarta Sans"/>
                <a:sym typeface="Plus Jakarta Sans"/>
              </a:rPr>
              <a:t>tersertifikasi fasilitator dan 13 Kit terdistribusi ke UKS/BK</a:t>
            </a:r>
            <a:r>
              <a:rPr lang="en-US" sz="1350">
                <a:solidFill>
                  <a:srgbClr val="475569"/>
                </a:solidFill>
                <a:latin typeface="Plus Jakarta Sans"/>
                <a:ea typeface="Plus Jakarta Sans"/>
                <a:cs typeface="Plus Jakarta Sans"/>
                <a:sym typeface="Plus Jakarta Sans"/>
              </a:rPr>
              <a:t>.</a:t>
            </a:r>
            <a:endParaRPr/>
          </a:p>
        </p:txBody>
      </p:sp>
      <p:sp>
        <p:nvSpPr>
          <p:cNvPr id="266" name="Google Shape;266;p22"/>
          <p:cNvSpPr txBox="1"/>
          <p:nvPr/>
        </p:nvSpPr>
        <p:spPr>
          <a:xfrm>
            <a:off x="4581525" y="3206204"/>
            <a:ext cx="3786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284C7"/>
                </a:solidFill>
                <a:latin typeface="Plus Jakarta Sans"/>
                <a:ea typeface="Plus Jakarta Sans"/>
                <a:cs typeface="Plus Jakarta Sans"/>
                <a:sym typeface="Plus Jakarta Sans"/>
              </a:rPr>
              <a:t>TINGKAT 2 · OUTCOME</a:t>
            </a:r>
            <a:endParaRPr/>
          </a:p>
        </p:txBody>
      </p:sp>
      <p:sp>
        <p:nvSpPr>
          <p:cNvPr id="267" name="Google Shape;267;p22"/>
          <p:cNvSpPr txBox="1"/>
          <p:nvPr/>
        </p:nvSpPr>
        <p:spPr>
          <a:xfrm>
            <a:off x="4581525" y="3453854"/>
            <a:ext cx="3975496"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2942"/>
                </a:solidFill>
                <a:latin typeface="Plus Jakarta Sans"/>
                <a:ea typeface="Plus Jakarta Sans"/>
                <a:cs typeface="Plus Jakarta Sans"/>
                <a:sym typeface="Plus Jakarta Sans"/>
              </a:rPr>
              <a:t>Perubahan Perilaku</a:t>
            </a:r>
            <a:endParaRPr/>
          </a:p>
        </p:txBody>
      </p:sp>
      <p:sp>
        <p:nvSpPr>
          <p:cNvPr id="268" name="Google Shape;268;p22"/>
          <p:cNvSpPr txBox="1"/>
          <p:nvPr/>
        </p:nvSpPr>
        <p:spPr>
          <a:xfrm>
            <a:off x="4581525" y="3834854"/>
            <a:ext cx="3124200" cy="719732"/>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5 Gugus konseling sebaya aktif menjangkau 500+ siswa dengan pemahaman 80%.</a:t>
            </a:r>
            <a:endParaRPr/>
          </a:p>
        </p:txBody>
      </p:sp>
      <p:sp>
        <p:nvSpPr>
          <p:cNvPr id="269" name="Google Shape;269;p22"/>
          <p:cNvSpPr txBox="1"/>
          <p:nvPr/>
        </p:nvSpPr>
        <p:spPr>
          <a:xfrm>
            <a:off x="8315325" y="3326159"/>
            <a:ext cx="3786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D97706"/>
                </a:solidFill>
                <a:latin typeface="Plus Jakarta Sans"/>
                <a:ea typeface="Plus Jakarta Sans"/>
                <a:cs typeface="Plus Jakarta Sans"/>
                <a:sym typeface="Plus Jakarta Sans"/>
              </a:rPr>
              <a:t>TINGKAT 3 · SUSTAINABILITAS</a:t>
            </a:r>
            <a:endParaRPr/>
          </a:p>
        </p:txBody>
      </p:sp>
      <p:sp>
        <p:nvSpPr>
          <p:cNvPr id="270" name="Google Shape;270;p22"/>
          <p:cNvSpPr txBox="1"/>
          <p:nvPr/>
        </p:nvSpPr>
        <p:spPr>
          <a:xfrm>
            <a:off x="8315325" y="3573809"/>
            <a:ext cx="387667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2942"/>
                </a:solidFill>
                <a:latin typeface="Plus Jakarta Sans"/>
                <a:ea typeface="Plus Jakarta Sans"/>
                <a:cs typeface="Plus Jakarta Sans"/>
                <a:sym typeface="Plus Jakarta Sans"/>
              </a:rPr>
              <a:t>Kemandirian Model</a:t>
            </a:r>
            <a:endParaRPr/>
          </a:p>
        </p:txBody>
      </p:sp>
      <p:sp>
        <p:nvSpPr>
          <p:cNvPr id="271" name="Google Shape;271;p22"/>
          <p:cNvSpPr txBox="1"/>
          <p:nvPr/>
        </p:nvSpPr>
        <p:spPr>
          <a:xfrm>
            <a:off x="8315325" y="3954809"/>
            <a:ext cx="3124200" cy="479821"/>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Skor evaluasi kit minimal 4.5/5.0 untuk adopsi skema Kampus Baku Jaga.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23"/>
          <p:cNvSpPr/>
          <p:nvPr/>
        </p:nvSpPr>
        <p:spPr>
          <a:xfrm>
            <a:off x="609600" y="2486173"/>
            <a:ext cx="5372100" cy="1299000"/>
          </a:xfrm>
          <a:prstGeom prst="roundRect">
            <a:avLst>
              <a:gd fmla="val 8799"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3"/>
          <p:cNvSpPr/>
          <p:nvPr/>
        </p:nvSpPr>
        <p:spPr>
          <a:xfrm>
            <a:off x="609600" y="3975645"/>
            <a:ext cx="5372100" cy="1299000"/>
          </a:xfrm>
          <a:prstGeom prst="roundRect">
            <a:avLst>
              <a:gd fmla="val 8799"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3"/>
          <p:cNvSpPr/>
          <p:nvPr/>
        </p:nvSpPr>
        <p:spPr>
          <a:xfrm>
            <a:off x="6210300" y="2486173"/>
            <a:ext cx="5372100" cy="1299000"/>
          </a:xfrm>
          <a:prstGeom prst="roundRect">
            <a:avLst>
              <a:gd fmla="val 8799"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3"/>
          <p:cNvSpPr/>
          <p:nvPr/>
        </p:nvSpPr>
        <p:spPr>
          <a:xfrm>
            <a:off x="6210300" y="3975645"/>
            <a:ext cx="5372100" cy="1299000"/>
          </a:xfrm>
          <a:prstGeom prst="roundRect">
            <a:avLst>
              <a:gd fmla="val 8799"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3"/>
          <p:cNvSpPr/>
          <p:nvPr/>
        </p:nvSpPr>
        <p:spPr>
          <a:xfrm>
            <a:off x="609600" y="3775620"/>
            <a:ext cx="5372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3"/>
          <p:cNvSpPr/>
          <p:nvPr/>
        </p:nvSpPr>
        <p:spPr>
          <a:xfrm>
            <a:off x="609600" y="2486173"/>
            <a:ext cx="5372100" cy="3810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3"/>
          <p:cNvSpPr/>
          <p:nvPr/>
        </p:nvSpPr>
        <p:spPr>
          <a:xfrm>
            <a:off x="609600" y="2486173"/>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3"/>
          <p:cNvSpPr/>
          <p:nvPr/>
        </p:nvSpPr>
        <p:spPr>
          <a:xfrm>
            <a:off x="5972175" y="2486173"/>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3"/>
          <p:cNvSpPr/>
          <p:nvPr/>
        </p:nvSpPr>
        <p:spPr>
          <a:xfrm>
            <a:off x="609600" y="5265092"/>
            <a:ext cx="5372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3"/>
          <p:cNvSpPr/>
          <p:nvPr/>
        </p:nvSpPr>
        <p:spPr>
          <a:xfrm>
            <a:off x="609600" y="3975645"/>
            <a:ext cx="5372100" cy="38100"/>
          </a:xfrm>
          <a:prstGeom prst="rect">
            <a:avLst/>
          </a:prstGeom>
          <a:solidFill>
            <a:srgbClr val="E05A4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3"/>
          <p:cNvSpPr/>
          <p:nvPr/>
        </p:nvSpPr>
        <p:spPr>
          <a:xfrm>
            <a:off x="609600" y="3975645"/>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23"/>
          <p:cNvSpPr/>
          <p:nvPr/>
        </p:nvSpPr>
        <p:spPr>
          <a:xfrm>
            <a:off x="5972175" y="3975645"/>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p23"/>
          <p:cNvSpPr/>
          <p:nvPr/>
        </p:nvSpPr>
        <p:spPr>
          <a:xfrm>
            <a:off x="6210300" y="3775620"/>
            <a:ext cx="5372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9" name="Google Shape;289;p23"/>
          <p:cNvSpPr/>
          <p:nvPr/>
        </p:nvSpPr>
        <p:spPr>
          <a:xfrm>
            <a:off x="6210300" y="2486173"/>
            <a:ext cx="5372100" cy="3810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0" name="Google Shape;290;p23"/>
          <p:cNvSpPr/>
          <p:nvPr/>
        </p:nvSpPr>
        <p:spPr>
          <a:xfrm>
            <a:off x="6210300" y="2486173"/>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1" name="Google Shape;291;p23"/>
          <p:cNvSpPr/>
          <p:nvPr/>
        </p:nvSpPr>
        <p:spPr>
          <a:xfrm>
            <a:off x="11572875" y="2486173"/>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3"/>
          <p:cNvSpPr/>
          <p:nvPr/>
        </p:nvSpPr>
        <p:spPr>
          <a:xfrm>
            <a:off x="6210300" y="5265092"/>
            <a:ext cx="5372100" cy="96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3"/>
          <p:cNvSpPr/>
          <p:nvPr/>
        </p:nvSpPr>
        <p:spPr>
          <a:xfrm>
            <a:off x="6210300" y="3975645"/>
            <a:ext cx="5372100" cy="38100"/>
          </a:xfrm>
          <a:prstGeom prst="rect">
            <a:avLst/>
          </a:prstGeom>
          <a:solidFill>
            <a:srgbClr val="D9770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3"/>
          <p:cNvSpPr/>
          <p:nvPr/>
        </p:nvSpPr>
        <p:spPr>
          <a:xfrm>
            <a:off x="6210300" y="3975645"/>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3"/>
          <p:cNvSpPr/>
          <p:nvPr/>
        </p:nvSpPr>
        <p:spPr>
          <a:xfrm>
            <a:off x="11572875" y="3975645"/>
            <a:ext cx="9600" cy="1299000"/>
          </a:xfrm>
          <a:prstGeom prst="rect">
            <a:avLst/>
          </a:prstGeom>
          <a:solidFill>
            <a:srgbClr val="CBD5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3"/>
          <p:cNvSpPr txBox="1"/>
          <p:nvPr/>
        </p:nvSpPr>
        <p:spPr>
          <a:xfrm>
            <a:off x="609600" y="457200"/>
            <a:ext cx="11582400" cy="17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KESIAPAN STRATEGIS</a:t>
            </a:r>
            <a:endParaRPr/>
          </a:p>
        </p:txBody>
      </p:sp>
      <p:sp>
        <p:nvSpPr>
          <p:cNvPr id="297" name="Google Shape;297;p23"/>
          <p:cNvSpPr txBox="1"/>
          <p:nvPr/>
        </p:nvSpPr>
        <p:spPr>
          <a:xfrm>
            <a:off x="609600" y="704850"/>
            <a:ext cx="11582400" cy="388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Analisis SWOT &amp; Mitigasi Risiko</a:t>
            </a:r>
            <a:endParaRPr/>
          </a:p>
        </p:txBody>
      </p:sp>
      <p:sp>
        <p:nvSpPr>
          <p:cNvPr id="298" name="Google Shape;298;p23"/>
          <p:cNvSpPr txBox="1"/>
          <p:nvPr/>
        </p:nvSpPr>
        <p:spPr>
          <a:xfrm>
            <a:off x="847725" y="2752873"/>
            <a:ext cx="6425700" cy="23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D9488"/>
                </a:solidFill>
                <a:latin typeface="Plus Jakarta Sans"/>
                <a:ea typeface="Plus Jakarta Sans"/>
                <a:cs typeface="Plus Jakarta Sans"/>
                <a:sym typeface="Plus Jakarta Sans"/>
              </a:rPr>
              <a:t>Kekuatan (Strengths)</a:t>
            </a:r>
            <a:endParaRPr/>
          </a:p>
        </p:txBody>
      </p:sp>
      <p:sp>
        <p:nvSpPr>
          <p:cNvPr id="299" name="Google Shape;299;p23"/>
          <p:cNvSpPr txBox="1"/>
          <p:nvPr/>
        </p:nvSpPr>
        <p:spPr>
          <a:xfrm>
            <a:off x="847725" y="3067198"/>
            <a:ext cx="4991100" cy="4797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4155"/>
                </a:solidFill>
                <a:latin typeface="Plus Jakarta Sans"/>
                <a:ea typeface="Plus Jakarta Sans"/>
                <a:cs typeface="Plus Jakarta Sans"/>
                <a:sym typeface="Plus Jakarta Sans"/>
              </a:rPr>
              <a:t>Kit fisik praktis berakar kearifan Baku Jaga dengan dampak ganda ToT guru.</a:t>
            </a:r>
            <a:endParaRPr/>
          </a:p>
        </p:txBody>
      </p:sp>
      <p:sp>
        <p:nvSpPr>
          <p:cNvPr id="300" name="Google Shape;300;p23"/>
          <p:cNvSpPr txBox="1"/>
          <p:nvPr/>
        </p:nvSpPr>
        <p:spPr>
          <a:xfrm>
            <a:off x="847725" y="4242345"/>
            <a:ext cx="6425700" cy="23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E05A47"/>
                </a:solidFill>
                <a:latin typeface="Plus Jakarta Sans"/>
                <a:ea typeface="Plus Jakarta Sans"/>
                <a:cs typeface="Plus Jakarta Sans"/>
                <a:sym typeface="Plus Jakarta Sans"/>
              </a:rPr>
              <a:t>Kelemahan (Weaknesses)</a:t>
            </a:r>
            <a:endParaRPr/>
          </a:p>
        </p:txBody>
      </p:sp>
      <p:sp>
        <p:nvSpPr>
          <p:cNvPr id="301" name="Google Shape;301;p23"/>
          <p:cNvSpPr txBox="1"/>
          <p:nvPr/>
        </p:nvSpPr>
        <p:spPr>
          <a:xfrm>
            <a:off x="847725" y="4556670"/>
            <a:ext cx="4991100" cy="4797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4155"/>
                </a:solidFill>
                <a:latin typeface="Plus Jakarta Sans"/>
                <a:ea typeface="Plus Jakarta Sans"/>
                <a:cs typeface="Plus Jakarta Sans"/>
                <a:sym typeface="Plus Jakarta Sans"/>
              </a:rPr>
              <a:t>Ketergantungan awal komitmen waktu guru dan durasi pengiriman kargo laut.</a:t>
            </a:r>
            <a:endParaRPr/>
          </a:p>
        </p:txBody>
      </p:sp>
      <p:sp>
        <p:nvSpPr>
          <p:cNvPr id="302" name="Google Shape;302;p23"/>
          <p:cNvSpPr txBox="1"/>
          <p:nvPr/>
        </p:nvSpPr>
        <p:spPr>
          <a:xfrm>
            <a:off x="6448425" y="2752873"/>
            <a:ext cx="5743500" cy="23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284C7"/>
                </a:solidFill>
                <a:latin typeface="Plus Jakarta Sans"/>
                <a:ea typeface="Plus Jakarta Sans"/>
                <a:cs typeface="Plus Jakarta Sans"/>
                <a:sym typeface="Plus Jakarta Sans"/>
              </a:rPr>
              <a:t>Peluang (Opportunities)</a:t>
            </a:r>
            <a:endParaRPr/>
          </a:p>
        </p:txBody>
      </p:sp>
      <p:sp>
        <p:nvSpPr>
          <p:cNvPr id="303" name="Google Shape;303;p23"/>
          <p:cNvSpPr txBox="1"/>
          <p:nvPr/>
        </p:nvSpPr>
        <p:spPr>
          <a:xfrm>
            <a:off x="6448425" y="3067198"/>
            <a:ext cx="4991100" cy="4986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4155"/>
                </a:solidFill>
                <a:latin typeface="Plus Jakarta Sans"/>
                <a:ea typeface="Plus Jakarta Sans"/>
                <a:cs typeface="Plus Jakarta Sans"/>
                <a:sym typeface="Plus Jakarta Sans"/>
              </a:rPr>
              <a:t>Replikasi ke </a:t>
            </a:r>
            <a:r>
              <a:rPr lang="en-US" sz="1350">
                <a:solidFill>
                  <a:srgbClr val="334155"/>
                </a:solidFill>
                <a:latin typeface="Plus Jakarta Sans"/>
                <a:ea typeface="Plus Jakarta Sans"/>
                <a:cs typeface="Plus Jakarta Sans"/>
                <a:sym typeface="Plus Jakarta Sans"/>
              </a:rPr>
              <a:t>berbagai sekolah </a:t>
            </a:r>
            <a:r>
              <a:rPr b="0" i="0" lang="en-US" sz="1350" u="none" cap="none" strike="noStrike">
                <a:solidFill>
                  <a:srgbClr val="334155"/>
                </a:solidFill>
                <a:latin typeface="Plus Jakarta Sans"/>
                <a:ea typeface="Plus Jakarta Sans"/>
                <a:cs typeface="Plus Jakarta Sans"/>
                <a:sym typeface="Plus Jakarta Sans"/>
              </a:rPr>
              <a:t>dan kemitraan B2B/B2G pasca-PFmuda</a:t>
            </a:r>
            <a:r>
              <a:rPr lang="en-US" sz="1350">
                <a:solidFill>
                  <a:srgbClr val="334155"/>
                </a:solidFill>
                <a:latin typeface="Plus Jakarta Sans"/>
                <a:ea typeface="Plus Jakarta Sans"/>
                <a:cs typeface="Plus Jakarta Sans"/>
                <a:sym typeface="Plus Jakarta Sans"/>
              </a:rPr>
              <a:t> sebagai model </a:t>
            </a:r>
            <a:r>
              <a:rPr b="1" i="1" lang="en-US" sz="1350">
                <a:solidFill>
                  <a:srgbClr val="334155"/>
                </a:solidFill>
                <a:latin typeface="Plus Jakarta Sans"/>
                <a:ea typeface="Plus Jakarta Sans"/>
                <a:cs typeface="Plus Jakarta Sans"/>
                <a:sym typeface="Plus Jakarta Sans"/>
              </a:rPr>
              <a:t>social entrepreneurship.</a:t>
            </a:r>
            <a:endParaRPr b="1" i="1"/>
          </a:p>
        </p:txBody>
      </p:sp>
      <p:sp>
        <p:nvSpPr>
          <p:cNvPr id="304" name="Google Shape;304;p23"/>
          <p:cNvSpPr txBox="1"/>
          <p:nvPr/>
        </p:nvSpPr>
        <p:spPr>
          <a:xfrm>
            <a:off x="6448425" y="4242345"/>
            <a:ext cx="5743500" cy="23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D97706"/>
                </a:solidFill>
                <a:latin typeface="Plus Jakarta Sans"/>
                <a:ea typeface="Plus Jakarta Sans"/>
                <a:cs typeface="Plus Jakarta Sans"/>
                <a:sym typeface="Plus Jakarta Sans"/>
              </a:rPr>
              <a:t>Ancaman (Threats)</a:t>
            </a:r>
            <a:endParaRPr/>
          </a:p>
        </p:txBody>
      </p:sp>
      <p:sp>
        <p:nvSpPr>
          <p:cNvPr id="305" name="Google Shape;305;p23"/>
          <p:cNvSpPr txBox="1"/>
          <p:nvPr/>
        </p:nvSpPr>
        <p:spPr>
          <a:xfrm>
            <a:off x="6448425" y="4556670"/>
            <a:ext cx="4991100" cy="479700"/>
          </a:xfrm>
          <a:prstGeom prst="rect">
            <a:avLst/>
          </a:prstGeom>
          <a:noFill/>
          <a:ln>
            <a:noFill/>
          </a:ln>
        </p:spPr>
        <p:txBody>
          <a:bodyPr anchorCtr="0" anchor="t" bIns="0" lIns="0" spcFirstLastPara="1" rIns="0" wrap="square" tIns="0">
            <a:spAutoFit/>
          </a:bodyPr>
          <a:lstStyle/>
          <a:p>
            <a:pPr indent="0" lvl="0" marL="0" marR="0" rtl="0" algn="l">
              <a:lnSpc>
                <a:spcPct val="139925"/>
              </a:lnSpc>
              <a:spcBef>
                <a:spcPts val="0"/>
              </a:spcBef>
              <a:spcAft>
                <a:spcPts val="0"/>
              </a:spcAft>
              <a:buNone/>
            </a:pPr>
            <a:r>
              <a:rPr b="0" i="0" lang="en-US" sz="1350" u="none" cap="none" strike="noStrike">
                <a:solidFill>
                  <a:srgbClr val="334155"/>
                </a:solidFill>
                <a:latin typeface="Plus Jakarta Sans"/>
                <a:ea typeface="Plus Jakarta Sans"/>
                <a:cs typeface="Plus Jakarta Sans"/>
                <a:sym typeface="Plus Jakarta Sans"/>
              </a:rPr>
              <a:t>Stigma tabu kesehatan jiwa serta risiko ketidakteraturan kelompok sebaya.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9" name="Shape 309"/>
        <p:cNvGrpSpPr/>
        <p:nvPr/>
      </p:nvGrpSpPr>
      <p:grpSpPr>
        <a:xfrm>
          <a:off x="0" y="0"/>
          <a:ext cx="0" cy="0"/>
          <a:chOff x="0" y="0"/>
          <a:chExt cx="0" cy="0"/>
        </a:xfrm>
      </p:grpSpPr>
      <p:sp>
        <p:nvSpPr>
          <p:cNvPr id="310" name="Google Shape;310;p24"/>
          <p:cNvSpPr/>
          <p:nvPr/>
        </p:nvSpPr>
        <p:spPr>
          <a:xfrm>
            <a:off x="6983759" y="2811809"/>
            <a:ext cx="4598640" cy="2137171"/>
          </a:xfrm>
          <a:prstGeom prst="roundRect">
            <a:avLst>
              <a:gd fmla="val 7130" name="adj"/>
            </a:avLst>
          </a:prstGeom>
          <a:solidFill>
            <a:srgbClr val="F8FAFC"/>
          </a:solidFill>
          <a:ln cap="flat" cmpd="sng" w="95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4"/>
          <p:cNvSpPr/>
          <p:nvPr/>
        </p:nvSpPr>
        <p:spPr>
          <a:xfrm>
            <a:off x="609600" y="2989808"/>
            <a:ext cx="6069359" cy="952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4"/>
          <p:cNvSpPr/>
          <p:nvPr/>
        </p:nvSpPr>
        <p:spPr>
          <a:xfrm>
            <a:off x="609600" y="3475583"/>
            <a:ext cx="6069359" cy="952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4"/>
          <p:cNvSpPr/>
          <p:nvPr/>
        </p:nvSpPr>
        <p:spPr>
          <a:xfrm>
            <a:off x="609600" y="3961358"/>
            <a:ext cx="6069359" cy="952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4"/>
          <p:cNvSpPr/>
          <p:nvPr/>
        </p:nvSpPr>
        <p:spPr>
          <a:xfrm>
            <a:off x="609600" y="4447133"/>
            <a:ext cx="6069359" cy="952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4"/>
          <p:cNvSpPr/>
          <p:nvPr/>
        </p:nvSpPr>
        <p:spPr>
          <a:xfrm>
            <a:off x="609600" y="4932908"/>
            <a:ext cx="6069359" cy="95250"/>
          </a:xfrm>
          <a:prstGeom prst="roundRect">
            <a:avLst>
              <a:gd fmla="val 50000"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4"/>
          <p:cNvSpPr/>
          <p:nvPr/>
        </p:nvSpPr>
        <p:spPr>
          <a:xfrm>
            <a:off x="609600" y="2989808"/>
            <a:ext cx="3944987" cy="95250"/>
          </a:xfrm>
          <a:prstGeom prst="rect">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4"/>
          <p:cNvSpPr/>
          <p:nvPr/>
        </p:nvSpPr>
        <p:spPr>
          <a:xfrm>
            <a:off x="609600" y="3475583"/>
            <a:ext cx="910381" cy="95250"/>
          </a:xfrm>
          <a:prstGeom prst="rect">
            <a:avLst/>
          </a:prstGeom>
          <a:solidFill>
            <a:srgbClr val="0284C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8" name="Google Shape;318;p24"/>
          <p:cNvSpPr/>
          <p:nvPr/>
        </p:nvSpPr>
        <p:spPr>
          <a:xfrm>
            <a:off x="609600" y="3961358"/>
            <a:ext cx="606921" cy="95250"/>
          </a:xfrm>
          <a:prstGeom prst="rect">
            <a:avLst/>
          </a:prstGeom>
          <a:solidFill>
            <a:srgbClr val="E05A4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24"/>
          <p:cNvSpPr/>
          <p:nvPr/>
        </p:nvSpPr>
        <p:spPr>
          <a:xfrm>
            <a:off x="609600" y="4447133"/>
            <a:ext cx="303460" cy="95250"/>
          </a:xfrm>
          <a:prstGeom prst="rect">
            <a:avLst/>
          </a:prstGeom>
          <a:solidFill>
            <a:srgbClr val="D9770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0" name="Google Shape;320;p24"/>
          <p:cNvSpPr/>
          <p:nvPr/>
        </p:nvSpPr>
        <p:spPr>
          <a:xfrm>
            <a:off x="609600" y="4932908"/>
            <a:ext cx="303460" cy="95250"/>
          </a:xfrm>
          <a:prstGeom prst="rect">
            <a:avLst/>
          </a:prstGeom>
          <a:solidFill>
            <a:srgbClr val="64748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1" name="Google Shape;321;p24"/>
          <p:cNvPicPr preferRelativeResize="0"/>
          <p:nvPr/>
        </p:nvPicPr>
        <p:blipFill rotWithShape="1">
          <a:blip r:embed="rId3">
            <a:alphaModFix/>
          </a:blip>
          <a:srcRect b="0" l="0" r="0" t="0"/>
          <a:stretch/>
        </p:blipFill>
        <p:spPr>
          <a:xfrm>
            <a:off x="9016305" y="3126134"/>
            <a:ext cx="533400" cy="533400"/>
          </a:xfrm>
          <a:prstGeom prst="rect">
            <a:avLst/>
          </a:prstGeom>
          <a:noFill/>
          <a:ln>
            <a:noFill/>
          </a:ln>
        </p:spPr>
      </p:pic>
      <p:pic>
        <p:nvPicPr>
          <p:cNvPr descr="image.png" id="322" name="Google Shape;322;p24"/>
          <p:cNvPicPr preferRelativeResize="0"/>
          <p:nvPr/>
        </p:nvPicPr>
        <p:blipFill rotWithShape="1">
          <a:blip r:embed="rId4">
            <a:alphaModFix/>
          </a:blip>
          <a:srcRect b="0" l="0" r="0" t="0"/>
          <a:stretch/>
        </p:blipFill>
        <p:spPr>
          <a:xfrm>
            <a:off x="9168705" y="3278534"/>
            <a:ext cx="228600" cy="228600"/>
          </a:xfrm>
          <a:prstGeom prst="rect">
            <a:avLst/>
          </a:prstGeom>
          <a:noFill/>
          <a:ln>
            <a:noFill/>
          </a:ln>
        </p:spPr>
      </p:pic>
      <p:sp>
        <p:nvSpPr>
          <p:cNvPr id="323" name="Google Shape;323;p24"/>
          <p:cNvSpPr txBox="1"/>
          <p:nvPr/>
        </p:nvSpPr>
        <p:spPr>
          <a:xfrm>
            <a:off x="609600" y="457200"/>
            <a:ext cx="1158240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TRANSPARANSI FINANSIAL</a:t>
            </a:r>
            <a:endParaRPr/>
          </a:p>
        </p:txBody>
      </p:sp>
      <p:sp>
        <p:nvSpPr>
          <p:cNvPr id="324" name="Google Shape;324;p24"/>
          <p:cNvSpPr txBox="1"/>
          <p:nvPr/>
        </p:nvSpPr>
        <p:spPr>
          <a:xfrm>
            <a:off x="609600" y="704850"/>
            <a:ext cx="11582400" cy="38859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Alokasi Dana Stimulan Rp 15.000.000</a:t>
            </a:r>
            <a:endParaRPr/>
          </a:p>
        </p:txBody>
      </p:sp>
      <p:sp>
        <p:nvSpPr>
          <p:cNvPr id="325" name="Google Shape;325;p24"/>
          <p:cNvSpPr txBox="1"/>
          <p:nvPr/>
        </p:nvSpPr>
        <p:spPr>
          <a:xfrm>
            <a:off x="6627767" y="3811934"/>
            <a:ext cx="5310624" cy="266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0F2942"/>
                </a:solidFill>
                <a:latin typeface="Plus Jakarta Sans"/>
                <a:ea typeface="Plus Jakarta Sans"/>
                <a:cs typeface="Plus Jakarta Sans"/>
                <a:sym typeface="Plus Jakarta Sans"/>
              </a:rPr>
              <a:t>Fokus Produksi Inti</a:t>
            </a:r>
            <a:endParaRPr/>
          </a:p>
        </p:txBody>
      </p:sp>
      <p:sp>
        <p:nvSpPr>
          <p:cNvPr id="326" name="Google Shape;326;p24"/>
          <p:cNvSpPr txBox="1"/>
          <p:nvPr/>
        </p:nvSpPr>
        <p:spPr>
          <a:xfrm>
            <a:off x="6754210" y="4154834"/>
            <a:ext cx="5057737" cy="479821"/>
          </a:xfrm>
          <a:prstGeom prst="rect">
            <a:avLst/>
          </a:prstGeom>
          <a:noFill/>
          <a:ln>
            <a:noFill/>
          </a:ln>
        </p:spPr>
        <p:txBody>
          <a:bodyPr anchorCtr="0" anchor="t" bIns="0" lIns="0" spcFirstLastPara="1" rIns="0" wrap="square" tIns="0">
            <a:spAutoFit/>
          </a:bodyPr>
          <a:lstStyle/>
          <a:p>
            <a:pPr indent="0" lvl="0" marL="0" marR="0" rtl="0" algn="ctr">
              <a:lnSpc>
                <a:spcPct val="139925"/>
              </a:lnSpc>
              <a:spcBef>
                <a:spcPts val="0"/>
              </a:spcBef>
              <a:spcAft>
                <a:spcPts val="0"/>
              </a:spcAft>
              <a:buNone/>
            </a:pPr>
            <a:r>
              <a:rPr b="0" i="0" lang="en-US" sz="1350" u="none" cap="none" strike="noStrike">
                <a:solidFill>
                  <a:srgbClr val="475569"/>
                </a:solidFill>
                <a:latin typeface="Plus Jakarta Sans"/>
                <a:ea typeface="Plus Jakarta Sans"/>
                <a:cs typeface="Plus Jakarta Sans"/>
                <a:sym typeface="Plus Jakarta Sans"/>
              </a:rPr>
              <a:t>Mayoritas 65% anggaran diprioritaskan langsung untuk perakitan kit fisik dan kurikulum.</a:t>
            </a:r>
            <a:endParaRPr/>
          </a:p>
        </p:txBody>
      </p:sp>
      <p:sp>
        <p:nvSpPr>
          <p:cNvPr id="327" name="Google Shape;327;p24"/>
          <p:cNvSpPr txBox="1"/>
          <p:nvPr/>
        </p:nvSpPr>
        <p:spPr>
          <a:xfrm>
            <a:off x="609600" y="2732633"/>
            <a:ext cx="272653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Bahan &amp; Produksi Program Inti</a:t>
            </a:r>
            <a:endParaRPr/>
          </a:p>
        </p:txBody>
      </p:sp>
      <p:sp>
        <p:nvSpPr>
          <p:cNvPr id="328" name="Google Shape;328;p24"/>
          <p:cNvSpPr txBox="1"/>
          <p:nvPr/>
        </p:nvSpPr>
        <p:spPr>
          <a:xfrm>
            <a:off x="5174009" y="2732633"/>
            <a:ext cx="1881187"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65% · Rp 9.750.000</a:t>
            </a:r>
            <a:endParaRPr/>
          </a:p>
        </p:txBody>
      </p:sp>
      <p:sp>
        <p:nvSpPr>
          <p:cNvPr id="329" name="Google Shape;329;p24"/>
          <p:cNvSpPr txBox="1"/>
          <p:nvPr/>
        </p:nvSpPr>
        <p:spPr>
          <a:xfrm>
            <a:off x="609600" y="3218408"/>
            <a:ext cx="2655093"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Operasional &amp; Logistik Kargo</a:t>
            </a:r>
            <a:endParaRPr/>
          </a:p>
        </p:txBody>
      </p:sp>
      <p:sp>
        <p:nvSpPr>
          <p:cNvPr id="330" name="Google Shape;330;p24"/>
          <p:cNvSpPr txBox="1"/>
          <p:nvPr/>
        </p:nvSpPr>
        <p:spPr>
          <a:xfrm>
            <a:off x="5193059" y="3218408"/>
            <a:ext cx="185737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15% · Rp 2.250.000</a:t>
            </a:r>
            <a:endParaRPr/>
          </a:p>
        </p:txBody>
      </p:sp>
      <p:sp>
        <p:nvSpPr>
          <p:cNvPr id="331" name="Google Shape;331;p24"/>
          <p:cNvSpPr txBox="1"/>
          <p:nvPr/>
        </p:nvSpPr>
        <p:spPr>
          <a:xfrm>
            <a:off x="609600" y="3704183"/>
            <a:ext cx="253603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Publikasi, Media &amp; Branding</a:t>
            </a:r>
            <a:endParaRPr/>
          </a:p>
        </p:txBody>
      </p:sp>
      <p:sp>
        <p:nvSpPr>
          <p:cNvPr id="332" name="Google Shape;332;p24"/>
          <p:cNvSpPr txBox="1"/>
          <p:nvPr/>
        </p:nvSpPr>
        <p:spPr>
          <a:xfrm>
            <a:off x="5212109" y="3704183"/>
            <a:ext cx="1833562"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10% · Rp 1.500.000</a:t>
            </a:r>
            <a:endParaRPr/>
          </a:p>
        </p:txBody>
      </p:sp>
      <p:sp>
        <p:nvSpPr>
          <p:cNvPr id="333" name="Google Shape;333;p24"/>
          <p:cNvSpPr txBox="1"/>
          <p:nvPr/>
        </p:nvSpPr>
        <p:spPr>
          <a:xfrm>
            <a:off x="609600" y="4189958"/>
            <a:ext cx="2845593"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Kesekretariatan &amp; Administrasi</a:t>
            </a:r>
            <a:endParaRPr/>
          </a:p>
        </p:txBody>
      </p:sp>
      <p:sp>
        <p:nvSpPr>
          <p:cNvPr id="334" name="Google Shape;334;p24"/>
          <p:cNvSpPr txBox="1"/>
          <p:nvPr/>
        </p:nvSpPr>
        <p:spPr>
          <a:xfrm>
            <a:off x="5412134" y="4189958"/>
            <a:ext cx="158353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5% · Rp 750.000</a:t>
            </a:r>
            <a:endParaRPr/>
          </a:p>
        </p:txBody>
      </p:sp>
      <p:sp>
        <p:nvSpPr>
          <p:cNvPr id="335" name="Google Shape;335;p24"/>
          <p:cNvSpPr txBox="1"/>
          <p:nvPr/>
        </p:nvSpPr>
        <p:spPr>
          <a:xfrm>
            <a:off x="609600" y="4675733"/>
            <a:ext cx="2690812"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Cadangan Mandiri Kontinjensi</a:t>
            </a:r>
            <a:endParaRPr/>
          </a:p>
        </p:txBody>
      </p:sp>
      <p:sp>
        <p:nvSpPr>
          <p:cNvPr id="336" name="Google Shape;336;p24"/>
          <p:cNvSpPr txBox="1"/>
          <p:nvPr/>
        </p:nvSpPr>
        <p:spPr>
          <a:xfrm>
            <a:off x="5412134" y="4675733"/>
            <a:ext cx="158353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2942"/>
                </a:solidFill>
                <a:latin typeface="Plus Jakarta Sans"/>
                <a:ea typeface="Plus Jakarta Sans"/>
                <a:cs typeface="Plus Jakarta Sans"/>
                <a:sym typeface="Plus Jakarta Sans"/>
              </a:rPr>
              <a:t>5% · Rp 750.000</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p25"/>
          <p:cNvSpPr/>
          <p:nvPr/>
        </p:nvSpPr>
        <p:spPr>
          <a:xfrm>
            <a:off x="609600" y="2964209"/>
            <a:ext cx="2088000" cy="1832400"/>
          </a:xfrm>
          <a:prstGeom prst="roundRect">
            <a:avLst>
              <a:gd fmla="val 62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5"/>
          <p:cNvSpPr/>
          <p:nvPr/>
        </p:nvSpPr>
        <p:spPr>
          <a:xfrm>
            <a:off x="2830859" y="2964209"/>
            <a:ext cx="2088000" cy="1832400"/>
          </a:xfrm>
          <a:prstGeom prst="roundRect">
            <a:avLst>
              <a:gd fmla="val 62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5"/>
          <p:cNvSpPr/>
          <p:nvPr/>
        </p:nvSpPr>
        <p:spPr>
          <a:xfrm>
            <a:off x="5052119" y="2964209"/>
            <a:ext cx="2088000" cy="1832400"/>
          </a:xfrm>
          <a:prstGeom prst="roundRect">
            <a:avLst>
              <a:gd fmla="val 62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5"/>
          <p:cNvSpPr/>
          <p:nvPr/>
        </p:nvSpPr>
        <p:spPr>
          <a:xfrm>
            <a:off x="7273379" y="2964209"/>
            <a:ext cx="2088000" cy="1832400"/>
          </a:xfrm>
          <a:prstGeom prst="roundRect">
            <a:avLst>
              <a:gd fmla="val 62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5"/>
          <p:cNvSpPr/>
          <p:nvPr/>
        </p:nvSpPr>
        <p:spPr>
          <a:xfrm>
            <a:off x="9494639" y="2964209"/>
            <a:ext cx="2088000" cy="1832400"/>
          </a:xfrm>
          <a:prstGeom prst="roundRect">
            <a:avLst>
              <a:gd fmla="val 6237"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5"/>
          <p:cNvSpPr/>
          <p:nvPr/>
        </p:nvSpPr>
        <p:spPr>
          <a:xfrm>
            <a:off x="771525" y="3202334"/>
            <a:ext cx="1764000" cy="314400"/>
          </a:xfrm>
          <a:prstGeom prst="roundRect">
            <a:avLst>
              <a:gd fmla="val 24242" name="adj"/>
            </a:avLst>
          </a:prstGeom>
          <a:solidFill>
            <a:srgbClr val="0F29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5"/>
          <p:cNvSpPr/>
          <p:nvPr/>
        </p:nvSpPr>
        <p:spPr>
          <a:xfrm>
            <a:off x="2992784" y="3202334"/>
            <a:ext cx="1764000" cy="314400"/>
          </a:xfrm>
          <a:prstGeom prst="roundRect">
            <a:avLst>
              <a:gd fmla="val 24242" name="adj"/>
            </a:avLst>
          </a:prstGeom>
          <a:solidFill>
            <a:srgbClr val="0F29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5"/>
          <p:cNvSpPr/>
          <p:nvPr/>
        </p:nvSpPr>
        <p:spPr>
          <a:xfrm>
            <a:off x="5214044" y="3202334"/>
            <a:ext cx="1764000" cy="314400"/>
          </a:xfrm>
          <a:prstGeom prst="roundRect">
            <a:avLst>
              <a:gd fmla="val 24242" name="adj"/>
            </a:avLst>
          </a:prstGeom>
          <a:solidFill>
            <a:srgbClr val="0F294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5"/>
          <p:cNvSpPr/>
          <p:nvPr/>
        </p:nvSpPr>
        <p:spPr>
          <a:xfrm>
            <a:off x="7435304" y="3202334"/>
            <a:ext cx="1764000" cy="314400"/>
          </a:xfrm>
          <a:prstGeom prst="roundRect">
            <a:avLst>
              <a:gd fmla="val 24242" name="adj"/>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5"/>
          <p:cNvSpPr/>
          <p:nvPr/>
        </p:nvSpPr>
        <p:spPr>
          <a:xfrm>
            <a:off x="9656564" y="3202334"/>
            <a:ext cx="1764000" cy="314400"/>
          </a:xfrm>
          <a:prstGeom prst="roundRect">
            <a:avLst>
              <a:gd fmla="val 24242" name="adj"/>
            </a:avLst>
          </a:prstGeom>
          <a:solidFill>
            <a:srgbClr val="0D948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5"/>
          <p:cNvSpPr txBox="1"/>
          <p:nvPr/>
        </p:nvSpPr>
        <p:spPr>
          <a:xfrm>
            <a:off x="609600" y="457200"/>
            <a:ext cx="11582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50" u="none" cap="none" strike="noStrike">
                <a:solidFill>
                  <a:srgbClr val="0D9488"/>
                </a:solidFill>
                <a:latin typeface="Plus Jakarta Sans"/>
                <a:ea typeface="Plus Jakarta Sans"/>
                <a:cs typeface="Plus Jakarta Sans"/>
                <a:sym typeface="Plus Jakarta Sans"/>
              </a:rPr>
              <a:t>RENCANA KERJA 2026</a:t>
            </a:r>
            <a:endParaRPr/>
          </a:p>
        </p:txBody>
      </p:sp>
      <p:sp>
        <p:nvSpPr>
          <p:cNvPr id="352" name="Google Shape;352;p25"/>
          <p:cNvSpPr txBox="1"/>
          <p:nvPr/>
        </p:nvSpPr>
        <p:spPr>
          <a:xfrm>
            <a:off x="609600" y="704850"/>
            <a:ext cx="11582400" cy="39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50" u="none" cap="none" strike="noStrike">
                <a:solidFill>
                  <a:srgbClr val="0F2942"/>
                </a:solidFill>
                <a:latin typeface="Plus Jakarta Sans"/>
                <a:ea typeface="Plus Jakarta Sans"/>
                <a:cs typeface="Plus Jakarta Sans"/>
                <a:sym typeface="Plus Jakarta Sans"/>
              </a:rPr>
              <a:t>Jadwal Pelaksanaan 5 Bulan</a:t>
            </a:r>
            <a:endParaRPr/>
          </a:p>
        </p:txBody>
      </p:sp>
      <p:sp>
        <p:nvSpPr>
          <p:cNvPr id="353" name="Google Shape;353;p25"/>
          <p:cNvSpPr txBox="1"/>
          <p:nvPr/>
        </p:nvSpPr>
        <p:spPr>
          <a:xfrm>
            <a:off x="665317" y="3259484"/>
            <a:ext cx="19764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Bulan I (Ag</a:t>
            </a:r>
            <a:r>
              <a:rPr b="1" lang="en-US" sz="1200">
                <a:solidFill>
                  <a:srgbClr val="FFFFFF"/>
                </a:solidFill>
                <a:latin typeface="Plus Jakarta Sans"/>
                <a:ea typeface="Plus Jakarta Sans"/>
                <a:cs typeface="Plus Jakarta Sans"/>
                <a:sym typeface="Plus Jakarta Sans"/>
              </a:rPr>
              <a:t>s</a:t>
            </a:r>
            <a:r>
              <a:rPr b="1" i="0" lang="en-US" sz="1200" u="none" cap="none" strike="noStrike">
                <a:solidFill>
                  <a:srgbClr val="FFFFFF"/>
                </a:solidFill>
                <a:latin typeface="Plus Jakarta Sans"/>
                <a:ea typeface="Plus Jakarta Sans"/>
                <a:cs typeface="Plus Jakarta Sans"/>
                <a:sym typeface="Plus Jakarta Sans"/>
              </a:rPr>
              <a:t>)</a:t>
            </a:r>
            <a:endParaRPr/>
          </a:p>
        </p:txBody>
      </p:sp>
      <p:sp>
        <p:nvSpPr>
          <p:cNvPr id="354" name="Google Shape;354;p25"/>
          <p:cNvSpPr txBox="1"/>
          <p:nvPr/>
        </p:nvSpPr>
        <p:spPr>
          <a:xfrm>
            <a:off x="495890" y="3669059"/>
            <a:ext cx="2315400" cy="207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ctr">
              <a:spcBef>
                <a:spcPts val="0"/>
              </a:spcBef>
              <a:spcAft>
                <a:spcPts val="0"/>
              </a:spcAft>
              <a:buNone/>
            </a:pPr>
            <a:r>
              <a:rPr b="1" i="0" lang="en-US" sz="1350">
                <a:solidFill>
                  <a:srgbClr val="0F2942"/>
                </a:solidFill>
                <a:latin typeface="Plus Jakarta Sans"/>
                <a:ea typeface="Plus Jakarta Sans"/>
                <a:cs typeface="Plus Jakarta Sans"/>
                <a:sym typeface="Plus Jakarta Sans"/>
              </a:rPr>
              <a:t>Pengembangan Produk</a:t>
            </a:r>
            <a:endParaRPr b="1" i="0" sz="1350">
              <a:solidFill>
                <a:srgbClr val="0F2942"/>
              </a:solidFill>
              <a:latin typeface="Plus Jakarta Sans"/>
              <a:ea typeface="Plus Jakarta Sans"/>
              <a:cs typeface="Plus Jakarta Sans"/>
              <a:sym typeface="Plus Jakarta Sans"/>
            </a:endParaRPr>
          </a:p>
        </p:txBody>
      </p:sp>
      <p:sp>
        <p:nvSpPr>
          <p:cNvPr id="355" name="Google Shape;355;p25"/>
          <p:cNvSpPr txBox="1"/>
          <p:nvPr/>
        </p:nvSpPr>
        <p:spPr>
          <a:xfrm>
            <a:off x="668200" y="3964325"/>
            <a:ext cx="1915800" cy="6651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Penyusunan kurikulum, telaah ahli, dan perancangan kit.</a:t>
            </a:r>
            <a:endParaRPr/>
          </a:p>
        </p:txBody>
      </p:sp>
      <p:sp>
        <p:nvSpPr>
          <p:cNvPr id="356" name="Google Shape;356;p25"/>
          <p:cNvSpPr txBox="1"/>
          <p:nvPr/>
        </p:nvSpPr>
        <p:spPr>
          <a:xfrm>
            <a:off x="2886577" y="3259484"/>
            <a:ext cx="19764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Bulan II (Sep)</a:t>
            </a:r>
            <a:endParaRPr/>
          </a:p>
        </p:txBody>
      </p:sp>
      <p:sp>
        <p:nvSpPr>
          <p:cNvPr id="357" name="Google Shape;357;p25"/>
          <p:cNvSpPr txBox="1"/>
          <p:nvPr/>
        </p:nvSpPr>
        <p:spPr>
          <a:xfrm>
            <a:off x="2717150" y="3669059"/>
            <a:ext cx="23154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Produksi Kit</a:t>
            </a:r>
            <a:endParaRPr/>
          </a:p>
        </p:txBody>
      </p:sp>
      <p:sp>
        <p:nvSpPr>
          <p:cNvPr id="358" name="Google Shape;358;p25"/>
          <p:cNvSpPr txBox="1"/>
          <p:nvPr/>
        </p:nvSpPr>
        <p:spPr>
          <a:xfrm>
            <a:off x="2889450" y="3964325"/>
            <a:ext cx="1867500" cy="6651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Pencetakan kit fisik dan perjanjian resmi </a:t>
            </a:r>
            <a:br>
              <a:rPr b="0" i="0" lang="en-US" sz="1200" u="none" cap="none" strike="noStrike">
                <a:solidFill>
                  <a:srgbClr val="475569"/>
                </a:solidFill>
                <a:latin typeface="Plus Jakarta Sans"/>
                <a:ea typeface="Plus Jakarta Sans"/>
                <a:cs typeface="Plus Jakarta Sans"/>
                <a:sym typeface="Plus Jakarta Sans"/>
              </a:rPr>
            </a:br>
            <a:r>
              <a:rPr b="0" i="0" lang="en-US" sz="1200" u="none" cap="none" strike="noStrike">
                <a:solidFill>
                  <a:srgbClr val="475569"/>
                </a:solidFill>
                <a:latin typeface="Plus Jakarta Sans"/>
                <a:ea typeface="Plus Jakarta Sans"/>
                <a:cs typeface="Plus Jakarta Sans"/>
                <a:sym typeface="Plus Jakarta Sans"/>
              </a:rPr>
              <a:t>sekolah mitra.</a:t>
            </a:r>
            <a:endParaRPr/>
          </a:p>
        </p:txBody>
      </p:sp>
      <p:sp>
        <p:nvSpPr>
          <p:cNvPr id="359" name="Google Shape;359;p25"/>
          <p:cNvSpPr txBox="1"/>
          <p:nvPr/>
        </p:nvSpPr>
        <p:spPr>
          <a:xfrm>
            <a:off x="5107837" y="3259484"/>
            <a:ext cx="19764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Bulan III (Okt)</a:t>
            </a:r>
            <a:endParaRPr/>
          </a:p>
        </p:txBody>
      </p:sp>
      <p:sp>
        <p:nvSpPr>
          <p:cNvPr id="360" name="Google Shape;360;p25"/>
          <p:cNvSpPr txBox="1"/>
          <p:nvPr/>
        </p:nvSpPr>
        <p:spPr>
          <a:xfrm>
            <a:off x="4938410" y="3669059"/>
            <a:ext cx="23154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Logistik Kargo</a:t>
            </a:r>
            <a:endParaRPr/>
          </a:p>
        </p:txBody>
      </p:sp>
      <p:sp>
        <p:nvSpPr>
          <p:cNvPr id="361" name="Google Shape;361;p25"/>
          <p:cNvSpPr txBox="1"/>
          <p:nvPr/>
        </p:nvSpPr>
        <p:spPr>
          <a:xfrm>
            <a:off x="4993537" y="3964334"/>
            <a:ext cx="2205000" cy="424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Pengiriman kit ke Ambon dan penyiapan sistem daring.</a:t>
            </a:r>
            <a:endParaRPr/>
          </a:p>
        </p:txBody>
      </p:sp>
      <p:sp>
        <p:nvSpPr>
          <p:cNvPr id="362" name="Google Shape;362;p25"/>
          <p:cNvSpPr txBox="1"/>
          <p:nvPr/>
        </p:nvSpPr>
        <p:spPr>
          <a:xfrm>
            <a:off x="7329096" y="3259484"/>
            <a:ext cx="19764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Bulan IV (Nov)</a:t>
            </a:r>
            <a:endParaRPr/>
          </a:p>
        </p:txBody>
      </p:sp>
      <p:sp>
        <p:nvSpPr>
          <p:cNvPr id="363" name="Google Shape;363;p25"/>
          <p:cNvSpPr txBox="1"/>
          <p:nvPr/>
        </p:nvSpPr>
        <p:spPr>
          <a:xfrm>
            <a:off x="7159669" y="3669059"/>
            <a:ext cx="23154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Pelatihan ToT</a:t>
            </a:r>
            <a:endParaRPr/>
          </a:p>
        </p:txBody>
      </p:sp>
      <p:sp>
        <p:nvSpPr>
          <p:cNvPr id="364" name="Google Shape;364;p25"/>
          <p:cNvSpPr txBox="1"/>
          <p:nvPr/>
        </p:nvSpPr>
        <p:spPr>
          <a:xfrm>
            <a:off x="7214796" y="3964334"/>
            <a:ext cx="2205000" cy="424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Workshop hibrida guru dan sertifikasi fasilitator resmi.</a:t>
            </a:r>
            <a:endParaRPr/>
          </a:p>
        </p:txBody>
      </p:sp>
      <p:sp>
        <p:nvSpPr>
          <p:cNvPr id="365" name="Google Shape;365;p25"/>
          <p:cNvSpPr txBox="1"/>
          <p:nvPr/>
        </p:nvSpPr>
        <p:spPr>
          <a:xfrm>
            <a:off x="9550356" y="3259484"/>
            <a:ext cx="1976400" cy="184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Bulan V (Des)</a:t>
            </a:r>
            <a:endParaRPr/>
          </a:p>
        </p:txBody>
      </p:sp>
      <p:sp>
        <p:nvSpPr>
          <p:cNvPr id="366" name="Google Shape;366;p25"/>
          <p:cNvSpPr txBox="1"/>
          <p:nvPr/>
        </p:nvSpPr>
        <p:spPr>
          <a:xfrm>
            <a:off x="9380929" y="3669059"/>
            <a:ext cx="23154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F2942"/>
                </a:solidFill>
                <a:latin typeface="Plus Jakarta Sans"/>
                <a:ea typeface="Plus Jakarta Sans"/>
                <a:cs typeface="Plus Jakarta Sans"/>
                <a:sym typeface="Plus Jakarta Sans"/>
              </a:rPr>
              <a:t>Aksi &amp; Evaluasi</a:t>
            </a:r>
            <a:endParaRPr/>
          </a:p>
        </p:txBody>
      </p:sp>
      <p:sp>
        <p:nvSpPr>
          <p:cNvPr id="367" name="Google Shape;367;p25"/>
          <p:cNvSpPr txBox="1"/>
          <p:nvPr/>
        </p:nvSpPr>
        <p:spPr>
          <a:xfrm>
            <a:off x="9553200" y="3964325"/>
            <a:ext cx="2088000" cy="6651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ADA Student Day, pengukuran dampak, serta pelaporan.</a:t>
            </a:r>
            <a:endParaRPr/>
          </a:p>
        </p:txBody>
      </p:sp>
      <p:sp>
        <p:nvSpPr>
          <p:cNvPr id="368" name="Google Shape;368;p25"/>
          <p:cNvSpPr txBox="1"/>
          <p:nvPr/>
        </p:nvSpPr>
        <p:spPr>
          <a:xfrm>
            <a:off x="665314" y="5006275"/>
            <a:ext cx="6186000" cy="215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lang="en-US">
                <a:solidFill>
                  <a:srgbClr val="888888"/>
                </a:solidFill>
              </a:rPr>
              <a:t>Catatan: </a:t>
            </a:r>
            <a:r>
              <a:rPr i="1" lang="en-US">
                <a:solidFill>
                  <a:srgbClr val="888888"/>
                </a:solidFill>
              </a:rPr>
              <a:t>timeline </a:t>
            </a:r>
            <a:r>
              <a:rPr lang="en-US">
                <a:solidFill>
                  <a:srgbClr val="888888"/>
                </a:solidFill>
              </a:rPr>
              <a:t>akan disesuaikan dengan hasil akhir PFMuda.</a:t>
            </a:r>
            <a:endParaRPr>
              <a:solidFill>
                <a:srgbClr val="88888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2" name="Shape 372"/>
        <p:cNvGrpSpPr/>
        <p:nvPr/>
      </p:nvGrpSpPr>
      <p:grpSpPr>
        <a:xfrm>
          <a:off x="0" y="0"/>
          <a:ext cx="0" cy="0"/>
          <a:chOff x="0" y="0"/>
          <a:chExt cx="0" cy="0"/>
        </a:xfrm>
      </p:grpSpPr>
      <p:pic>
        <p:nvPicPr>
          <p:cNvPr id="373" name="Google Shape;373;p26"/>
          <p:cNvPicPr preferRelativeResize="0"/>
          <p:nvPr/>
        </p:nvPicPr>
        <p:blipFill rotWithShape="1">
          <a:blip r:embed="rId3">
            <a:alphaModFix/>
          </a:blip>
          <a:srcRect b="2487" l="0" r="0" t="0"/>
          <a:stretch/>
        </p:blipFill>
        <p:spPr>
          <a:xfrm>
            <a:off x="0" y="111400"/>
            <a:ext cx="12192000" cy="66352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